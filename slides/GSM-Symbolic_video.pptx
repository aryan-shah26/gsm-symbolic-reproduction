
<file path=[Content_Types].xml><?xml version="1.0" encoding="utf-8"?>
<Types xmlns="http://schemas.openxmlformats.org/package/2006/content-types">
  <Default Extension="png" ContentType="image/png"/>
  <Default Extension="m4a" ContentType="audio/mp4"/>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charts/chart4.xml" ContentType="application/vnd.openxmlformats-officedocument.drawingml.chart+xml"/>
  <Override PartName="/ppt/notesSlides/notesSlide13.xml" ContentType="application/vnd.openxmlformats-officedocument.presentationml.notesSlide+xml"/>
  <Override PartName="/ppt/charts/chart5.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270EB58-C9FE-AF17-73D5-E1C324E0DBE7}">
          <p14:sldIdLst>
            <p14:sldId id="256"/>
            <p14:sldId id="257"/>
          </p14:sldIdLst>
        </p14:section>
        <p14:section name="The paper" id="{7C7EDA4B-3F46-6126-8775-6E53B21A787B}">
          <p14:sldIdLst>
            <p14:sldId id="258"/>
            <p14:sldId id="259"/>
            <p14:sldId id="260"/>
            <p14:sldId id="261"/>
          </p14:sldIdLst>
        </p14:section>
        <p14:section name="Implementation" id="{331AF353-8F22-EAC5-7285-9574F05469EF}">
          <p14:sldIdLst>
            <p14:sldId id="262"/>
            <p14:sldId id="263"/>
            <p14:sldId id="264"/>
          </p14:sldIdLst>
        </p14:section>
        <p14:section name="Results" id="{D0D4EC18-604A-0BE3-C0FC-D715BB64D906}">
          <p14:sldIdLst>
            <p14:sldId id="265"/>
            <p14:sldId id="266"/>
            <p14:sldId id="267"/>
          </p14:sldIdLst>
        </p14:section>
        <p14:section name="Stress test" id="{9D893823-6B62-1E11-37BD-1B30802F9CCC}">
          <p14:sldIdLst>
            <p14:sldId id="268"/>
            <p14:sldId id="269"/>
          </p14:sldIdLst>
        </p14:section>
        <p14:section name="Conclusion" id="{BFEDBFAA-8214-9E97-D163-7928CC60CA57}">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0" d="100"/>
          <a:sy n="90" d="100"/>
        </p:scale>
        <p:origin x="230" y="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600" b="0" i="0" u="none" strike="noStrike">
                <a:solidFill>
                  <a:schemeClr val="tx2"/>
                </a:solidFill>
                <a:latin typeface="+mn-lt"/>
              </a:defRPr>
            </a:pPr>
            <a:r>
              <a:rPr sz="1600" b="0" i="0" u="none" strike="noStrike">
                <a:solidFill>
                  <a:schemeClr val="tx2"/>
                </a:solidFill>
                <a:latin typeface="+mn-lt"/>
              </a:rPr>
              <a:t>Templates per split</a:t>
            </a:r>
          </a:p>
        </c:rich>
      </c:tx>
      <c:overlay val="0"/>
    </c:title>
    <c:autoTitleDeleted val="0"/>
    <c:plotArea>
      <c:layout/>
      <c:barChart>
        <c:barDir val="col"/>
        <c:grouping val="clustered"/>
        <c:varyColors val="0"/>
        <c:ser>
          <c:idx val="0"/>
          <c:order val="0"/>
          <c:tx>
            <c:strRef>
              <c:f>Sheet1!$B$1</c:f>
              <c:strCache>
                <c:ptCount val="1"/>
                <c:pt idx="0">
                  <c:v>Released</c:v>
                </c:pt>
              </c:strCache>
            </c:strRef>
          </c:tx>
          <c:spPr>
            <a:solidFill>
              <a:srgbClr val="C9D8D2"/>
            </a:solidFill>
            <a:effectLst/>
          </c:spPr>
          <c:invertIfNegative val="0"/>
          <c:dLbls>
            <c:numFmt formatCode="0" sourceLinked="0"/>
            <c:spPr>
              <a:noFill/>
              <a:ln>
                <a:noFill/>
              </a:ln>
              <a:effectLst/>
            </c:spPr>
            <c:txPr>
              <a:bodyPr/>
              <a:lstStyle/>
              <a:p>
                <a:pPr>
                  <a:defRPr sz="12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Symbolic</c:v>
                </c:pt>
                <c:pt idx="1">
                  <c:v>P1</c:v>
                </c:pt>
                <c:pt idx="2">
                  <c:v>P2</c:v>
                </c:pt>
              </c:strCache>
            </c:strRef>
          </c:cat>
          <c:val>
            <c:numRef>
              <c:f>Sheet1!$B$2:$B$4</c:f>
              <c:numCache>
                <c:formatCode>General</c:formatCode>
                <c:ptCount val="3"/>
                <c:pt idx="0">
                  <c:v>100</c:v>
                </c:pt>
                <c:pt idx="1">
                  <c:v>100</c:v>
                </c:pt>
                <c:pt idx="2">
                  <c:v>50</c:v>
                </c:pt>
              </c:numCache>
            </c:numRef>
          </c:val>
        </c:ser>
        <c:ser>
          <c:idx val="1"/>
          <c:order val="1"/>
          <c:tx>
            <c:strRef>
              <c:f>Sheet1!$C$1</c:f>
              <c:strCache>
                <c:ptCount val="1"/>
                <c:pt idx="0">
                  <c:v>Samples correctly</c:v>
                </c:pt>
              </c:strCache>
            </c:strRef>
          </c:tx>
          <c:spPr>
            <a:solidFill>
              <a:srgbClr val="1F6F5C"/>
            </a:solidFill>
            <a:effectLst/>
          </c:spPr>
          <c:invertIfNegative val="0"/>
          <c:dLbls>
            <c:numFmt formatCode="0" sourceLinked="0"/>
            <c:spPr>
              <a:noFill/>
              <a:ln>
                <a:noFill/>
              </a:ln>
              <a:effectLst/>
            </c:spPr>
            <c:txPr>
              <a:bodyPr/>
              <a:lstStyle/>
              <a:p>
                <a:pPr>
                  <a:defRPr sz="12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Symbolic</c:v>
                </c:pt>
                <c:pt idx="1">
                  <c:v>P1</c:v>
                </c:pt>
                <c:pt idx="2">
                  <c:v>P2</c:v>
                </c:pt>
              </c:strCache>
            </c:strRef>
          </c:cat>
          <c:val>
            <c:numRef>
              <c:f>Sheet1!$C$2:$C$4</c:f>
              <c:numCache>
                <c:formatCode>General</c:formatCode>
                <c:ptCount val="3"/>
                <c:pt idx="0">
                  <c:v>90</c:v>
                </c:pt>
                <c:pt idx="1">
                  <c:v>84</c:v>
                </c:pt>
                <c:pt idx="2">
                  <c:v>37</c:v>
                </c:pt>
              </c:numCache>
            </c:numRef>
          </c:val>
        </c:ser>
        <c:dLbls>
          <c:showLegendKey val="0"/>
          <c:showVal val="1"/>
          <c:showCatName val="0"/>
          <c:showSerName val="0"/>
          <c:showPercent val="0"/>
          <c:showBubbleSize val="0"/>
        </c:dLbls>
        <c:gapWidth val="60"/>
        <c:axId val="374176416"/>
        <c:axId val="374174064"/>
      </c:barChart>
      <c:catAx>
        <c:axId val="374176416"/>
        <c:scaling>
          <c:orientation val="minMax"/>
        </c:scaling>
        <c:delete val="0"/>
        <c:axPos val="b"/>
        <c:numFmt formatCode="General" sourceLinked="1"/>
        <c:majorTickMark val="out"/>
        <c:minorTickMark val="none"/>
        <c:tickLblPos val="low"/>
        <c:spPr>
          <a:ln w="12700" cap="flat">
            <a:solidFill>
              <a:srgbClr val="C9D8D2"/>
            </a:solidFill>
            <a:prstDash val="solid"/>
            <a:round/>
          </a:ln>
        </c:spPr>
        <c:txPr>
          <a:bodyPr/>
          <a:lstStyle/>
          <a:p>
            <a:pPr>
              <a:defRPr sz="1400" b="0" i="0" u="none" strike="noStrike">
                <a:solidFill>
                  <a:schemeClr val="tx1"/>
                </a:solidFill>
                <a:latin typeface="+mn-lt"/>
              </a:defRPr>
            </a:pPr>
            <a:endParaRPr lang="en-US"/>
          </a:p>
        </c:txPr>
        <c:crossAx val="374174064"/>
        <c:crosses val="autoZero"/>
        <c:auto val="1"/>
        <c:lblAlgn val="ctr"/>
        <c:lblOffset val="100"/>
        <c:noMultiLvlLbl val="1"/>
      </c:catAx>
      <c:valAx>
        <c:axId val="374174064"/>
        <c:scaling>
          <c:orientation val="minMax"/>
          <c:max val="115"/>
          <c:min val="0"/>
        </c:scaling>
        <c:delete val="1"/>
        <c:axPos val="l"/>
        <c:numFmt formatCode="General" sourceLinked="0"/>
        <c:majorTickMark val="out"/>
        <c:minorTickMark val="none"/>
        <c:tickLblPos val="nextTo"/>
        <c:crossAx val="374176416"/>
        <c:crosses val="autoZero"/>
        <c:crossBetween val="between"/>
      </c:valAx>
      <c:spPr>
        <a:noFill/>
        <a:ln>
          <a:noFill/>
        </a:ln>
        <a:effectLst/>
      </c:spPr>
    </c:plotArea>
    <c:legend>
      <c:legendPos val="t"/>
      <c:overlay val="0"/>
      <c:txPr>
        <a:bodyPr/>
        <a:lstStyle/>
        <a:p>
          <a:pPr>
            <a:defRPr sz="12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600" b="0" i="0" u="none" strike="noStrike">
                <a:solidFill>
                  <a:schemeClr val="tx2"/>
                </a:solidFill>
                <a:latin typeface="+mn-lt"/>
              </a:defRPr>
            </a:pPr>
            <a:r>
              <a:rPr sz="1600" b="0" i="0" u="none" strike="noStrike">
                <a:solidFill>
                  <a:schemeClr val="tx2"/>
                </a:solidFill>
                <a:latin typeface="+mn-lt"/>
              </a:rPr>
              <a:t>Accuracy (%), E1 + E2</a:t>
            </a:r>
          </a:p>
        </c:rich>
      </c:tx>
      <c:overlay val="0"/>
    </c:title>
    <c:autoTitleDeleted val="0"/>
    <c:plotArea>
      <c:layout/>
      <c:barChart>
        <c:barDir val="col"/>
        <c:grouping val="clustered"/>
        <c:varyColors val="0"/>
        <c:ser>
          <c:idx val="0"/>
          <c:order val="0"/>
          <c:tx>
            <c:strRef>
              <c:f>Sheet1!$B$1</c:f>
              <c:strCache>
                <c:ptCount val="1"/>
                <c:pt idx="0">
                  <c:v>Qwen2.5-0.5B</c:v>
                </c:pt>
              </c:strCache>
            </c:strRef>
          </c:tx>
          <c:spPr>
            <a:solidFill>
              <a:srgbClr val="E39B2D"/>
            </a:solidFill>
            <a:effectLst/>
          </c:spPr>
          <c:invertIfNegative val="0"/>
          <c:dLbls>
            <c:numFmt formatCode="0.0" sourceLinked="0"/>
            <c:spPr>
              <a:noFill/>
              <a:ln>
                <a:noFill/>
              </a:ln>
              <a:effectLst/>
            </c:spPr>
            <c:txPr>
              <a:bodyPr/>
              <a:lstStyle/>
              <a:p>
                <a:pPr>
                  <a:defRPr sz="12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Original GSM8K</c:v>
                </c:pt>
                <c:pt idx="1">
                  <c:v>Names only</c:v>
                </c:pt>
                <c:pt idx="2">
                  <c:v>Numbers only</c:v>
                </c:pt>
                <c:pt idx="3">
                  <c:v>Both</c:v>
                </c:pt>
              </c:strCache>
            </c:strRef>
          </c:cat>
          <c:val>
            <c:numRef>
              <c:f>Sheet1!$B$2:$B$5</c:f>
              <c:numCache>
                <c:formatCode>General</c:formatCode>
                <c:ptCount val="4"/>
                <c:pt idx="0">
                  <c:v>40</c:v>
                </c:pt>
                <c:pt idx="1">
                  <c:v>41.4</c:v>
                </c:pt>
                <c:pt idx="2">
                  <c:v>35.6</c:v>
                </c:pt>
                <c:pt idx="3">
                  <c:v>34.6</c:v>
                </c:pt>
              </c:numCache>
            </c:numRef>
          </c:val>
        </c:ser>
        <c:ser>
          <c:idx val="1"/>
          <c:order val="1"/>
          <c:tx>
            <c:strRef>
              <c:f>Sheet1!$C$1</c:f>
              <c:strCache>
                <c:ptCount val="1"/>
                <c:pt idx="0">
                  <c:v>Qwen2.5-1.5B</c:v>
                </c:pt>
              </c:strCache>
            </c:strRef>
          </c:tx>
          <c:spPr>
            <a:solidFill>
              <a:srgbClr val="1F6F5C"/>
            </a:solidFill>
            <a:effectLst/>
          </c:spPr>
          <c:invertIfNegative val="0"/>
          <c:dLbls>
            <c:numFmt formatCode="0.0" sourceLinked="0"/>
            <c:spPr>
              <a:noFill/>
              <a:ln>
                <a:noFill/>
              </a:ln>
              <a:effectLst/>
            </c:spPr>
            <c:txPr>
              <a:bodyPr/>
              <a:lstStyle/>
              <a:p>
                <a:pPr>
                  <a:defRPr sz="12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Original GSM8K</c:v>
                </c:pt>
                <c:pt idx="1">
                  <c:v>Names only</c:v>
                </c:pt>
                <c:pt idx="2">
                  <c:v>Numbers only</c:v>
                </c:pt>
                <c:pt idx="3">
                  <c:v>Both</c:v>
                </c:pt>
              </c:strCache>
            </c:strRef>
          </c:cat>
          <c:val>
            <c:numRef>
              <c:f>Sheet1!$C$2:$C$5</c:f>
              <c:numCache>
                <c:formatCode>General</c:formatCode>
                <c:ptCount val="4"/>
                <c:pt idx="0">
                  <c:v>66.7</c:v>
                </c:pt>
                <c:pt idx="1">
                  <c:v>70.5</c:v>
                </c:pt>
                <c:pt idx="2">
                  <c:v>63.4</c:v>
                </c:pt>
                <c:pt idx="3">
                  <c:v>65.099999999999994</c:v>
                </c:pt>
              </c:numCache>
            </c:numRef>
          </c:val>
        </c:ser>
        <c:dLbls>
          <c:showLegendKey val="0"/>
          <c:showVal val="1"/>
          <c:showCatName val="0"/>
          <c:showSerName val="0"/>
          <c:showPercent val="0"/>
          <c:showBubbleSize val="0"/>
        </c:dLbls>
        <c:gapWidth val="55"/>
        <c:axId val="374177200"/>
        <c:axId val="374177592"/>
      </c:barChart>
      <c:catAx>
        <c:axId val="374177200"/>
        <c:scaling>
          <c:orientation val="minMax"/>
        </c:scaling>
        <c:delete val="0"/>
        <c:axPos val="b"/>
        <c:numFmt formatCode="General" sourceLinked="1"/>
        <c:majorTickMark val="out"/>
        <c:minorTickMark val="none"/>
        <c:tickLblPos val="low"/>
        <c:spPr>
          <a:ln w="12700" cap="flat">
            <a:solidFill>
              <a:srgbClr val="C9D8D2"/>
            </a:solidFill>
            <a:prstDash val="solid"/>
            <a:round/>
          </a:ln>
        </c:spPr>
        <c:txPr>
          <a:bodyPr/>
          <a:lstStyle/>
          <a:p>
            <a:pPr>
              <a:defRPr sz="1400" b="0" i="0" u="none" strike="noStrike">
                <a:solidFill>
                  <a:schemeClr val="tx1"/>
                </a:solidFill>
                <a:latin typeface="+mn-lt"/>
              </a:defRPr>
            </a:pPr>
            <a:endParaRPr lang="en-US"/>
          </a:p>
        </c:txPr>
        <c:crossAx val="374177592"/>
        <c:crosses val="autoZero"/>
        <c:auto val="1"/>
        <c:lblAlgn val="ctr"/>
        <c:lblOffset val="100"/>
        <c:noMultiLvlLbl val="1"/>
      </c:catAx>
      <c:valAx>
        <c:axId val="374177592"/>
        <c:scaling>
          <c:orientation val="minMax"/>
          <c:max val="85"/>
          <c:min val="0"/>
        </c:scaling>
        <c:delete val="1"/>
        <c:axPos val="l"/>
        <c:numFmt formatCode="General" sourceLinked="0"/>
        <c:majorTickMark val="out"/>
        <c:minorTickMark val="none"/>
        <c:tickLblPos val="nextTo"/>
        <c:crossAx val="374177200"/>
        <c:crosses val="autoZero"/>
        <c:crossBetween val="between"/>
      </c:valAx>
      <c:spPr>
        <a:noFill/>
        <a:ln>
          <a:noFill/>
        </a:ln>
        <a:effectLst/>
      </c:spPr>
    </c:plotArea>
    <c:legend>
      <c:legendPos val="t"/>
      <c:overlay val="0"/>
      <c:txPr>
        <a:bodyPr/>
        <a:lstStyle/>
        <a:p>
          <a:pPr>
            <a:defRPr sz="12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600" b="0" i="0" u="none" strike="noStrike">
                <a:solidFill>
                  <a:schemeClr val="tx2"/>
                </a:solidFill>
                <a:latin typeface="+mn-lt"/>
              </a:defRPr>
            </a:pPr>
            <a:r>
              <a:rPr sz="1600" b="0" i="0" u="none" strike="noStrike">
                <a:solidFill>
                  <a:schemeClr val="tx2"/>
                </a:solidFill>
                <a:latin typeface="+mn-lt"/>
              </a:rPr>
              <a:t>Accuracy (%), E3</a:t>
            </a:r>
          </a:p>
        </c:rich>
      </c:tx>
      <c:overlay val="0"/>
    </c:title>
    <c:autoTitleDeleted val="0"/>
    <c:plotArea>
      <c:layout/>
      <c:lineChart>
        <c:grouping val="standard"/>
        <c:varyColors val="0"/>
        <c:ser>
          <c:idx val="0"/>
          <c:order val="0"/>
          <c:tx>
            <c:strRef>
              <c:f>Sheet1!$B$1</c:f>
              <c:strCache>
                <c:ptCount val="1"/>
                <c:pt idx="0">
                  <c:v>Qwen2.5-0.5B</c:v>
                </c:pt>
              </c:strCache>
            </c:strRef>
          </c:tx>
          <c:spPr>
            <a:ln w="38100" cap="flat">
              <a:solidFill>
                <a:srgbClr val="E39B2D"/>
              </a:solidFill>
              <a:prstDash val="solid"/>
              <a:round/>
            </a:ln>
            <a:effectLst/>
          </c:spPr>
          <c:marker>
            <c:symbol val="circle"/>
            <c:size val="10"/>
            <c:spPr>
              <a:solidFill>
                <a:srgbClr val="E39B2D"/>
              </a:solidFill>
              <a:ln w="9525" cap="flat">
                <a:solidFill>
                  <a:srgbClr val="E39B2D"/>
                </a:solidFill>
                <a:prstDash val="solid"/>
                <a:round/>
              </a:ln>
              <a:effectLst/>
            </c:spPr>
          </c:marker>
          <c:dLbls>
            <c:numFmt formatCode="0.0" sourceLinked="0"/>
            <c:spPr>
              <a:noFill/>
              <a:ln>
                <a:noFill/>
              </a:ln>
              <a:effectLst/>
            </c:spPr>
            <c:txPr>
              <a:bodyPr/>
              <a:lstStyle/>
              <a:p>
                <a:pPr>
                  <a:defRPr sz="1200" b="0" i="0" u="none" strike="noStrike">
                    <a:solidFill>
                      <a:schemeClr val="tx1"/>
                    </a:solidFill>
                    <a:latin typeface="+mn-l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Symbolic</c:v>
                </c:pt>
                <c:pt idx="1">
                  <c:v>P1 (+1 clause)</c:v>
                </c:pt>
                <c:pt idx="2">
                  <c:v>P2 (+2 clauses)</c:v>
                </c:pt>
              </c:strCache>
            </c:strRef>
          </c:cat>
          <c:val>
            <c:numRef>
              <c:f>Sheet1!$B$2:$B$4</c:f>
              <c:numCache>
                <c:formatCode>General</c:formatCode>
                <c:ptCount val="3"/>
                <c:pt idx="0">
                  <c:v>34.700000000000003</c:v>
                </c:pt>
                <c:pt idx="1">
                  <c:v>20.6</c:v>
                </c:pt>
                <c:pt idx="2">
                  <c:v>9.1999999999999993</c:v>
                </c:pt>
              </c:numCache>
            </c:numRef>
          </c:val>
          <c:smooth val="0"/>
        </c:ser>
        <c:ser>
          <c:idx val="1"/>
          <c:order val="1"/>
          <c:tx>
            <c:strRef>
              <c:f>Sheet1!$C$1</c:f>
              <c:strCache>
                <c:ptCount val="1"/>
                <c:pt idx="0">
                  <c:v>Qwen2.5-1.5B</c:v>
                </c:pt>
              </c:strCache>
            </c:strRef>
          </c:tx>
          <c:spPr>
            <a:ln w="38100" cap="flat">
              <a:solidFill>
                <a:srgbClr val="1F6F5C"/>
              </a:solidFill>
              <a:prstDash val="solid"/>
              <a:round/>
            </a:ln>
            <a:effectLst/>
          </c:spPr>
          <c:marker>
            <c:symbol val="circle"/>
            <c:size val="10"/>
            <c:spPr>
              <a:solidFill>
                <a:srgbClr val="1F6F5C"/>
              </a:solidFill>
              <a:ln w="9525" cap="flat">
                <a:solidFill>
                  <a:srgbClr val="1F6F5C"/>
                </a:solidFill>
                <a:prstDash val="solid"/>
                <a:round/>
              </a:ln>
              <a:effectLst/>
            </c:spPr>
          </c:marker>
          <c:dLbls>
            <c:numFmt formatCode="0.0" sourceLinked="0"/>
            <c:spPr>
              <a:noFill/>
              <a:ln>
                <a:noFill/>
              </a:ln>
              <a:effectLst/>
            </c:spPr>
            <c:txPr>
              <a:bodyPr/>
              <a:lstStyle/>
              <a:p>
                <a:pPr>
                  <a:defRPr sz="1200" b="0" i="0" u="none" strike="noStrike">
                    <a:solidFill>
                      <a:schemeClr val="tx1"/>
                    </a:solidFill>
                    <a:latin typeface="+mn-l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Symbolic</c:v>
                </c:pt>
                <c:pt idx="1">
                  <c:v>P1 (+1 clause)</c:v>
                </c:pt>
                <c:pt idx="2">
                  <c:v>P2 (+2 clauses)</c:v>
                </c:pt>
              </c:strCache>
            </c:strRef>
          </c:cat>
          <c:val>
            <c:numRef>
              <c:f>Sheet1!$C$2:$C$4</c:f>
              <c:numCache>
                <c:formatCode>General</c:formatCode>
                <c:ptCount val="3"/>
                <c:pt idx="0">
                  <c:v>65</c:v>
                </c:pt>
                <c:pt idx="1">
                  <c:v>45.6</c:v>
                </c:pt>
                <c:pt idx="2">
                  <c:v>22.4</c:v>
                </c:pt>
              </c:numCache>
            </c:numRef>
          </c:val>
          <c:smooth val="0"/>
        </c:ser>
        <c:dLbls>
          <c:dLblPos val="t"/>
          <c:showLegendKey val="0"/>
          <c:showVal val="1"/>
          <c:showCatName val="0"/>
          <c:showSerName val="0"/>
          <c:showPercent val="0"/>
          <c:showBubbleSize val="0"/>
        </c:dLbls>
        <c:marker val="1"/>
        <c:smooth val="0"/>
        <c:axId val="374178768"/>
        <c:axId val="374175632"/>
      </c:lineChart>
      <c:catAx>
        <c:axId val="374178768"/>
        <c:scaling>
          <c:orientation val="minMax"/>
        </c:scaling>
        <c:delete val="0"/>
        <c:axPos val="b"/>
        <c:numFmt formatCode="General" sourceLinked="1"/>
        <c:majorTickMark val="out"/>
        <c:minorTickMark val="none"/>
        <c:tickLblPos val="low"/>
        <c:spPr>
          <a:ln w="12700" cap="flat">
            <a:solidFill>
              <a:srgbClr val="C9D8D2"/>
            </a:solidFill>
            <a:prstDash val="solid"/>
            <a:round/>
          </a:ln>
        </c:spPr>
        <c:txPr>
          <a:bodyPr/>
          <a:lstStyle/>
          <a:p>
            <a:pPr>
              <a:defRPr sz="1400" b="0" i="0" u="none" strike="noStrike">
                <a:solidFill>
                  <a:schemeClr val="tx1"/>
                </a:solidFill>
                <a:latin typeface="+mn-lt"/>
              </a:defRPr>
            </a:pPr>
            <a:endParaRPr lang="en-US"/>
          </a:p>
        </c:txPr>
        <c:crossAx val="374175632"/>
        <c:crosses val="autoZero"/>
        <c:auto val="1"/>
        <c:lblAlgn val="ctr"/>
        <c:lblOffset val="100"/>
        <c:noMultiLvlLbl val="1"/>
      </c:catAx>
      <c:valAx>
        <c:axId val="374175632"/>
        <c:scaling>
          <c:orientation val="minMax"/>
          <c:max val="80"/>
          <c:min val="0"/>
        </c:scaling>
        <c:delete val="1"/>
        <c:axPos val="l"/>
        <c:numFmt formatCode="General" sourceLinked="0"/>
        <c:majorTickMark val="out"/>
        <c:minorTickMark val="none"/>
        <c:tickLblPos val="nextTo"/>
        <c:crossAx val="374178768"/>
        <c:crosses val="autoZero"/>
        <c:crossBetween val="between"/>
      </c:valAx>
      <c:spPr>
        <a:noFill/>
        <a:ln>
          <a:noFill/>
        </a:ln>
        <a:effectLst/>
      </c:spPr>
    </c:plotArea>
    <c:legend>
      <c:legendPos val="t"/>
      <c:overlay val="0"/>
      <c:txPr>
        <a:bodyPr/>
        <a:lstStyle/>
        <a:p>
          <a:pPr>
            <a:defRPr sz="12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600" b="0" i="0" u="none" strike="noStrike">
                <a:solidFill>
                  <a:schemeClr val="tx2"/>
                </a:solidFill>
                <a:latin typeface="+mn-lt"/>
              </a:defRPr>
            </a:pPr>
            <a:r>
              <a:rPr sz="1600" b="0" i="0" u="none" strike="noStrike">
                <a:solidFill>
                  <a:schemeClr val="tx2"/>
                </a:solidFill>
                <a:latin typeface="+mn-lt"/>
              </a:rPr>
              <a:t>Accuracy (%), E4 (same 14 templates)</a:t>
            </a:r>
          </a:p>
        </c:rich>
      </c:tx>
      <c:overlay val="0"/>
    </c:title>
    <c:autoTitleDeleted val="0"/>
    <c:plotArea>
      <c:layout/>
      <c:barChart>
        <c:barDir val="col"/>
        <c:grouping val="clustered"/>
        <c:varyColors val="0"/>
        <c:ser>
          <c:idx val="0"/>
          <c:order val="0"/>
          <c:tx>
            <c:strRef>
              <c:f>Sheet1!$B$1</c:f>
              <c:strCache>
                <c:ptCount val="1"/>
                <c:pt idx="0">
                  <c:v>Base question</c:v>
                </c:pt>
              </c:strCache>
            </c:strRef>
          </c:tx>
          <c:spPr>
            <a:solidFill>
              <a:srgbClr val="7FA99B"/>
            </a:solidFill>
            <a:effectLst/>
          </c:spPr>
          <c:invertIfNegative val="0"/>
          <c:dLbls>
            <c:numFmt formatCode="0.0" sourceLinked="0"/>
            <c:spPr>
              <a:noFill/>
              <a:ln>
                <a:noFill/>
              </a:ln>
              <a:effectLst/>
            </c:spPr>
            <c:txPr>
              <a:bodyPr/>
              <a:lstStyle/>
              <a:p>
                <a:pPr>
                  <a:defRPr sz="12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Qwen2.5-0.5B</c:v>
                </c:pt>
                <c:pt idx="1">
                  <c:v>Qwen2.5-1.5B</c:v>
                </c:pt>
              </c:strCache>
            </c:strRef>
          </c:cat>
          <c:val>
            <c:numRef>
              <c:f>Sheet1!$B$2:$B$3</c:f>
              <c:numCache>
                <c:formatCode>General</c:formatCode>
                <c:ptCount val="2"/>
                <c:pt idx="0">
                  <c:v>46</c:v>
                </c:pt>
                <c:pt idx="1">
                  <c:v>85.1</c:v>
                </c:pt>
              </c:numCache>
            </c:numRef>
          </c:val>
        </c:ser>
        <c:ser>
          <c:idx val="1"/>
          <c:order val="1"/>
          <c:tx>
            <c:strRef>
              <c:f>Sheet1!$C$1</c:f>
              <c:strCache>
                <c:ptCount val="1"/>
                <c:pt idx="0">
                  <c:v>With NoOp sentence</c:v>
                </c:pt>
              </c:strCache>
            </c:strRef>
          </c:tx>
          <c:spPr>
            <a:solidFill>
              <a:srgbClr val="D2553F"/>
            </a:solidFill>
            <a:effectLst/>
          </c:spPr>
          <c:invertIfNegative val="0"/>
          <c:dLbls>
            <c:numFmt formatCode="0.0" sourceLinked="0"/>
            <c:spPr>
              <a:noFill/>
              <a:ln>
                <a:noFill/>
              </a:ln>
              <a:effectLst/>
            </c:spPr>
            <c:txPr>
              <a:bodyPr/>
              <a:lstStyle/>
              <a:p>
                <a:pPr>
                  <a:defRPr sz="12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Qwen2.5-0.5B</c:v>
                </c:pt>
                <c:pt idx="1">
                  <c:v>Qwen2.5-1.5B</c:v>
                </c:pt>
              </c:strCache>
            </c:strRef>
          </c:cat>
          <c:val>
            <c:numRef>
              <c:f>Sheet1!$C$2:$C$3</c:f>
              <c:numCache>
                <c:formatCode>General</c:formatCode>
                <c:ptCount val="2"/>
                <c:pt idx="0">
                  <c:v>18</c:v>
                </c:pt>
                <c:pt idx="1">
                  <c:v>31.7</c:v>
                </c:pt>
              </c:numCache>
            </c:numRef>
          </c:val>
        </c:ser>
        <c:dLbls>
          <c:showLegendKey val="0"/>
          <c:showVal val="1"/>
          <c:showCatName val="0"/>
          <c:showSerName val="0"/>
          <c:showPercent val="0"/>
          <c:showBubbleSize val="0"/>
        </c:dLbls>
        <c:gapWidth val="70"/>
        <c:axId val="369481792"/>
        <c:axId val="375686560"/>
      </c:barChart>
      <c:catAx>
        <c:axId val="369481792"/>
        <c:scaling>
          <c:orientation val="minMax"/>
        </c:scaling>
        <c:delete val="0"/>
        <c:axPos val="b"/>
        <c:numFmt formatCode="General" sourceLinked="1"/>
        <c:majorTickMark val="out"/>
        <c:minorTickMark val="none"/>
        <c:tickLblPos val="low"/>
        <c:spPr>
          <a:ln w="12700" cap="flat">
            <a:solidFill>
              <a:srgbClr val="C9D8D2"/>
            </a:solidFill>
            <a:prstDash val="solid"/>
            <a:round/>
          </a:ln>
        </c:spPr>
        <c:txPr>
          <a:bodyPr/>
          <a:lstStyle/>
          <a:p>
            <a:pPr>
              <a:defRPr sz="1400" b="0" i="0" u="none" strike="noStrike">
                <a:solidFill>
                  <a:schemeClr val="tx1"/>
                </a:solidFill>
                <a:latin typeface="+mn-lt"/>
              </a:defRPr>
            </a:pPr>
            <a:endParaRPr lang="en-US"/>
          </a:p>
        </c:txPr>
        <c:crossAx val="375686560"/>
        <c:crosses val="autoZero"/>
        <c:auto val="1"/>
        <c:lblAlgn val="ctr"/>
        <c:lblOffset val="100"/>
        <c:noMultiLvlLbl val="1"/>
      </c:catAx>
      <c:valAx>
        <c:axId val="375686560"/>
        <c:scaling>
          <c:orientation val="minMax"/>
          <c:max val="100"/>
          <c:min val="0"/>
        </c:scaling>
        <c:delete val="1"/>
        <c:axPos val="l"/>
        <c:numFmt formatCode="General" sourceLinked="0"/>
        <c:majorTickMark val="out"/>
        <c:minorTickMark val="none"/>
        <c:tickLblPos val="nextTo"/>
        <c:crossAx val="369481792"/>
        <c:crosses val="autoZero"/>
        <c:crossBetween val="between"/>
      </c:valAx>
      <c:spPr>
        <a:noFill/>
        <a:ln>
          <a:noFill/>
        </a:ln>
        <a:effectLst/>
      </c:spPr>
    </c:plotArea>
    <c:legend>
      <c:legendPos val="t"/>
      <c:overlay val="0"/>
      <c:txPr>
        <a:bodyPr/>
        <a:lstStyle/>
        <a:p>
          <a:pPr>
            <a:defRPr sz="12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1"/>
  <c:style val="2"/>
  <c:chart>
    <c:title>
      <c:tx>
        <c:rich>
          <a:bodyPr/>
          <a:lstStyle/>
          <a:p>
            <a:pPr>
              <a:defRPr sz="1600" b="0" i="0" u="none" strike="noStrike">
                <a:solidFill>
                  <a:schemeClr val="tx2"/>
                </a:solidFill>
                <a:latin typeface="+mn-lt"/>
              </a:defRPr>
            </a:pPr>
            <a:r>
              <a:rPr sz="1600" b="0" i="0" u="none" strike="noStrike">
                <a:solidFill>
                  <a:schemeClr val="tx2"/>
                </a:solidFill>
                <a:latin typeface="+mn-lt"/>
              </a:rPr>
              <a:t>SD of accuracy across 25 datasets (pts)</a:t>
            </a:r>
          </a:p>
        </c:rich>
      </c:tx>
      <c:overlay val="0"/>
    </c:title>
    <c:autoTitleDeleted val="0"/>
    <c:plotArea>
      <c:layout/>
      <c:barChart>
        <c:barDir val="col"/>
        <c:grouping val="clustered"/>
        <c:varyColors val="0"/>
        <c:ser>
          <c:idx val="0"/>
          <c:order val="0"/>
          <c:tx>
            <c:strRef>
              <c:f>Sheet1!$B$1</c:f>
              <c:strCache>
                <c:ptCount val="1"/>
                <c:pt idx="0">
                  <c:v>Observed SD</c:v>
                </c:pt>
              </c:strCache>
            </c:strRef>
          </c:tx>
          <c:spPr>
            <a:solidFill>
              <a:srgbClr val="1F6F5C"/>
            </a:solidFill>
            <a:effectLst/>
          </c:spPr>
          <c:invertIfNegative val="0"/>
          <c:dLbls>
            <c:numFmt formatCode="0.0" sourceLinked="0"/>
            <c:spPr>
              <a:noFill/>
              <a:ln>
                <a:noFill/>
              </a:ln>
              <a:effectLst/>
            </c:spPr>
            <c:txPr>
              <a:bodyPr/>
              <a:lstStyle/>
              <a:p>
                <a:pPr>
                  <a:defRPr sz="12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Qwen2.5-0.5B</c:v>
                </c:pt>
                <c:pt idx="1">
                  <c:v>Qwen2.5-1.5B</c:v>
                </c:pt>
              </c:strCache>
            </c:strRef>
          </c:cat>
          <c:val>
            <c:numRef>
              <c:f>Sheet1!$B$2:$B$3</c:f>
              <c:numCache>
                <c:formatCode>General</c:formatCode>
                <c:ptCount val="2"/>
                <c:pt idx="0">
                  <c:v>4.26</c:v>
                </c:pt>
                <c:pt idx="1">
                  <c:v>4.3499999999999996</c:v>
                </c:pt>
              </c:numCache>
            </c:numRef>
          </c:val>
        </c:ser>
        <c:ser>
          <c:idx val="1"/>
          <c:order val="1"/>
          <c:tx>
            <c:strRef>
              <c:f>Sheet1!$C$1</c:f>
              <c:strCache>
                <c:ptCount val="1"/>
                <c:pt idx="0">
                  <c:v>Binomial noise only</c:v>
                </c:pt>
              </c:strCache>
            </c:strRef>
          </c:tx>
          <c:spPr>
            <a:solidFill>
              <a:srgbClr val="C9D8D2"/>
            </a:solidFill>
            <a:effectLst/>
          </c:spPr>
          <c:invertIfNegative val="0"/>
          <c:dLbls>
            <c:numFmt formatCode="0.0" sourceLinked="0"/>
            <c:spPr>
              <a:noFill/>
              <a:ln>
                <a:noFill/>
              </a:ln>
              <a:effectLst/>
            </c:spPr>
            <c:txPr>
              <a:bodyPr/>
              <a:lstStyle/>
              <a:p>
                <a:pPr>
                  <a:defRPr sz="1200" b="0" i="0" u="none" strike="noStrike">
                    <a:solidFill>
                      <a:schemeClr val="tx1"/>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Qwen2.5-0.5B</c:v>
                </c:pt>
                <c:pt idx="1">
                  <c:v>Qwen2.5-1.5B</c:v>
                </c:pt>
              </c:strCache>
            </c:strRef>
          </c:cat>
          <c:val>
            <c:numRef>
              <c:f>Sheet1!$C$2:$C$3</c:f>
              <c:numCache>
                <c:formatCode>General</c:formatCode>
                <c:ptCount val="2"/>
                <c:pt idx="0">
                  <c:v>3.96</c:v>
                </c:pt>
                <c:pt idx="1">
                  <c:v>4.82</c:v>
                </c:pt>
              </c:numCache>
            </c:numRef>
          </c:val>
        </c:ser>
        <c:dLbls>
          <c:showLegendKey val="0"/>
          <c:showVal val="1"/>
          <c:showCatName val="0"/>
          <c:showSerName val="0"/>
          <c:showPercent val="0"/>
          <c:showBubbleSize val="0"/>
        </c:dLbls>
        <c:gapWidth val="70"/>
        <c:axId val="375692048"/>
        <c:axId val="375690480"/>
      </c:barChart>
      <c:catAx>
        <c:axId val="375692048"/>
        <c:scaling>
          <c:orientation val="minMax"/>
        </c:scaling>
        <c:delete val="0"/>
        <c:axPos val="b"/>
        <c:numFmt formatCode="General" sourceLinked="1"/>
        <c:majorTickMark val="out"/>
        <c:minorTickMark val="none"/>
        <c:tickLblPos val="low"/>
        <c:spPr>
          <a:ln w="12700" cap="flat">
            <a:solidFill>
              <a:srgbClr val="C9D8D2"/>
            </a:solidFill>
            <a:prstDash val="solid"/>
            <a:round/>
          </a:ln>
        </c:spPr>
        <c:txPr>
          <a:bodyPr/>
          <a:lstStyle/>
          <a:p>
            <a:pPr>
              <a:defRPr sz="1400" b="0" i="0" u="none" strike="noStrike">
                <a:solidFill>
                  <a:schemeClr val="tx1"/>
                </a:solidFill>
                <a:latin typeface="+mn-lt"/>
              </a:defRPr>
            </a:pPr>
            <a:endParaRPr lang="en-US"/>
          </a:p>
        </c:txPr>
        <c:crossAx val="375690480"/>
        <c:crosses val="autoZero"/>
        <c:auto val="1"/>
        <c:lblAlgn val="ctr"/>
        <c:lblOffset val="100"/>
        <c:noMultiLvlLbl val="1"/>
      </c:catAx>
      <c:valAx>
        <c:axId val="375690480"/>
        <c:scaling>
          <c:orientation val="minMax"/>
          <c:max val="6"/>
          <c:min val="0"/>
        </c:scaling>
        <c:delete val="1"/>
        <c:axPos val="l"/>
        <c:numFmt formatCode="General" sourceLinked="0"/>
        <c:majorTickMark val="out"/>
        <c:minorTickMark val="none"/>
        <c:tickLblPos val="nextTo"/>
        <c:crossAx val="375692048"/>
        <c:crosses val="autoZero"/>
        <c:crossBetween val="between"/>
      </c:valAx>
      <c:spPr>
        <a:noFill/>
        <a:ln>
          <a:noFill/>
        </a:ln>
        <a:effectLst/>
      </c:spPr>
    </c:plotArea>
    <c:legend>
      <c:legendPos val="t"/>
      <c:overlay val="0"/>
      <c:txPr>
        <a:bodyPr/>
        <a:lstStyle/>
        <a:p>
          <a:pPr>
            <a:defRPr sz="12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6549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grade-school word problem. Fog covers 24 miles of a city every 342 minutes. The city is 48 miles across. How long until it's all covered? The answer is 684 minutes.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add one sentence: "The fog is 4 times thicker than it was last week." Nothing about the math changes. But the model we tested multiplied by four and answered 4 minutes.
That's what this paper is about: GSM-Symbolic: Understanding the Limitations of Mathematical Reasoning in Large Language Models, by Mirzadeh and colleagues at Apple, published at ICLR 2025. In this video I explain what they did, show my reimplementation, and present my results. I also stress-test the paper's own claims with some statistics.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GSM8K is the standard benchmark for math reasoning in LLMs. It has about 8,000 grade-school word problems, each with a single numeric answer. Over a few years, scores went from mediocre to well above 90%. That's often read as "LLMs can reason."
The paper raises two problems with that reading.
First, contamination. GSM8K has been public since 2021, so its exact questions, with the exact names and numbers, are likely in the training data. A high score could partly mean the model remembers the problems.
Second, a single number hides a lot. One accuracy on one fixed test set tells you nothing about how stable it is. If you asked the same questions with different numbers, would you get the same score?
The paper's idea: don't test on fixed questions. Test on templates that can generate endless fresh versions of each question.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Contribution 1: GSM-Symbolic. The authors took 100 GSM8K questions and turned each into a template. Names and numbers become variables, and each variable has a domain to sample from. Each template also has conditions that keep a sample valid. For example, the answer must be a whole number, or you can't give away more cookies than you have. One template can produce any number of new questions, each with a correct answer computed automatically.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Contribution 2: evaluation as a distribution. They sample 50 datasets, each containing one instance of every template, and report the spread of accuracy, not one number. They find that most models score lower on these variants than on the original GSM8K questions, and that accuracy varies noticeably from dataset to dataset.
Contribution 3: names versus numbers. They change only the names, only the numbers, or both. Changing names hurts a little. Changing numbers hurts more. If a model truly understood the problem, neither should matter.
Contribution 4: difficulty scaling (next slide). Contribution 5: GSM-NoOp, the most cited result. They add one sentence that sounds relevant but changes nothing, like "five of the kiwis were smaller than average." Accuracy drops sharply, by up to 65% for some models. The models seem to turn every number they see into an arithmetic step.
Their conclusion is that LLMs do something closer to pattern-matching than formal reasoning.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Contribution 4: difficulty scaling. GSM-P1 and GSM-P2 add one or two extra reasoning clauses to each question. These are three examples generated by my code from the same original problem. Accuracy falls, and variance grows, as clauses are added.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Apple released the 250 templates on GitHub: 100 Symbolic, 100 P1, and 50 P2. They did not release the code that turns templates into questions. Their README says the parser isn't published yet. So the main piece of my implementation is that generator, plus everything around it: NoOp distractors, the evaluation harness, and statistical checks.
[Switch to the notebook here: §0 contribution table, then §2 raw template.]
Here's a raw template. The question has slots like {x, 10}, meaning variable x with the original GSM8K value 10. Below it is an #init section with Python-like expressions for each variable's domain. A dollar sign marks a numeric variable. Then come #conditions and the #answer formula.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Template class splits the text into sections and compiles each expression. sample() uses rejection sampling. It draws every variable from its domain, checks all conditions, and keeps the first draw that passes.
It supports four modes. original keeps the GSM8K values. names changes only non-numeric variables. numbers changes only numeric ones. both changes everything. That's how I run the names-versus-numbers experiment.
A side note: some templates have tiny valid domains. Template 25 needs two percentages that both give whole numbers of students, and only about 0.13% of random draws pass. In my full run, one seed failed 5,000 times in a row, so I added a retry with a fresh seed.
For evaluation I follow the paper's setup: 8-shot chain-of-thought prompts, greedy decoding, and stopping when the model starts a new "Q:". I parse the number after "The final answer is."
[Notebook: §3 Template class, §4 demo of the four modes, §5 NoOp, §6 build_prompt and extract_answer.]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the generator, I validate every template. Sampled solutions must match the answer formula, and plugging in the original numbers must reproduce the original GSM8K answer. 90 of the 100 Symbolic templates sample correctly, and 79 reproduce the GSM8K answer exactly. The rest have annotation quirks in Apple's files, and I skip them.
I tested Qwen2.5-0.5B-Instruct and Qwen2.5-1.5B-Instruct on a free Colab T4. Generations are cached, so the analysis re-runs instantly. In total, each model answered about 7,300 questions: 60 templates × 25 datasets for experiments 1 and 2, 27 templates for P1/P2, and 14 for NoOp.
[Notebook: §3.1 coverage table, §7 bench table.]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§8 E1 histogram, then E2.]
Experiment 1: original versus symbolic. The 0.5B model goes from 40% on the original GSM8K questions to 34.6% on symbolic variants, and the 1.5B model from 66.7% to 65.1%. Same direction as the paper, but small, so hold that thought.
Experiment 2: names versus numbers. Changing names barely matters. The 1.5B model even does slightly better, at 70.5%. Changing numbers costs about 6 to 7 points for both models. That matches the paper's ordering.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§8 E3 boxplots.]
Experiment 3: difficulty. This is the clearest result. The 1.5B model goes from 65% on Symbolic to 46% with one extra clause, and 22% with two. The 0.5B model goes from 35% to 21% to 9%. More reasoning steps means more chances to slip, and neither model handles that well.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§8 E4 bar chart and the printed failure.]
Experiment 4: NoOp. This is the biggest effect. On the same templates, the 1.5B model drops from 85% to 32%, a 53-point loss from one irrelevant sentence. The 0.5B model drops from 46% to 18%. The comparison is paired, the same question with and without the sentence, so this isn't noise.
Here's the failure from the start of the video. The model reads "4 times thicker", decides fog thickness must matter, invents a thickness from the rate, and multiplies. It's exactly the behavior the paper describes.
One caveat: the 85% baseline is higher than in experiment 1 because my 14 NoOp templates happened to be easier ones. The drop is still measured within the same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§9.1 and §9.2.]
Recently, the statistical side of claims like these has been questioned. A 2026 paper, "The Importance of Being Statistically Earnest," criticizes how such conclusions are drawn. So I ran three checks of my own.
Is the variance real? If each template has a fixed difficulty, a 60-question test will vary from dataset to dataset by chance alone. We can compute how much. Observed spread: 4.3 and 4.4 points. Pure binomial noise predicts 4.0 and 4.8. So the "high variance" is almost entirely what you'd expect from a small test. It isn't evidence of fragile reasoning by itself.
Is the original-to-symbolic drop significant? I bootstrap over templates. The 95% confidence intervals for the drop are −3 to +15 points and −8 to +11 points. Both include zero. At my scale, I can't say the models do worse on GSM-Symbolic than on GSM8K.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§9.3 plots.]
Are the numbers a confound? My sampled numbers are bigger than GSM8K's: median 17 versus 12, a statistically significant difference. And accuracy falls as the largest number in a question grows, from 77% to 56% for the 1.5B model. So part of the "numbers hurt" effect may just be harder arithmetic, not memorization. This analysis mixes templates, so it's suggestive rather than conclusive.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Two of the paper's findings hold up well even with small models: extra clauses and irrelevant information both cause large, clearly real drops. Those are the strongest evidence that these models pattern-match rather than reason.
The headline claim that accuracy drops and varies on symbolic variants is weaker. At my scale, the variance is mostly sampling noise, the drop isn't significant, and changing numbers also makes the arithmetic harder.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limitations: small models, my own name pools and NoOp sentences, and fewer templates and datasets than the paper's 100 × 50.
The bigger lesson for evaluating LLMs: generate fresh test data, report uncertainty, and check for confounds before concluding what a model can or can't do. Thanks for watching. The notebook and code are linked in the description.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1064240" cy="173736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548640" y="3749040"/>
            <a:ext cx="9601200" cy="1188720"/>
          </a:xfrm>
          <a:prstGeom prst="rect">
            <a:avLst/>
          </a:prstGeom>
          <a:noFill/>
          <a:ln/>
        </p:spPr>
        <p:txBody>
          <a:bodyPr wrap="square" rtlCol="0"/>
          <a:lstStyle>
            <a:lvl1pPr marL="0" indent="0">
              <a:buNone/>
              <a:defRPr lang="en-US" sz="2000" dirty="0">
                <a:solidFill>
                  <a:schemeClr val="accent6"/>
                </a:solidFill>
              </a:defRPr>
            </a:lvl1pPr>
          </a:lstStyle>
          <a:p>
            <a:pPr marL="0" indent="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buNone/>
              <a:defRPr lang="en-US" sz="3600" b="1" dirty="0">
                <a:solidFill>
                  <a:schemeClr val="tx2"/>
                </a:solidFill>
                <a:latin typeface="Cambria" pitchFamily="34" charset="0"/>
                <a:ea typeface="Cambria" pitchFamily="34" charset="-122"/>
                <a:cs typeface="Cambria" pitchFamily="34" charset="-120"/>
              </a:defRPr>
            </a:lvl1pPr>
          </a:lstStyle>
          <a:p>
            <a:pPr marL="0" indent="0">
              <a:buNone/>
            </a:pPr>
            <a:endParaRPr lang="en-US" sz="36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GSM-Symbolic reproduction  ·  FLLM paper reading</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rtlCol="0"/>
          <a:lstStyle>
            <a:lvl1pPr marL="0" indent="0">
              <a:buNone/>
              <a:defRPr lang="en-US" sz="3600" b="1" dirty="0">
                <a:solidFill>
                  <a:schemeClr val="bg1"/>
                </a:solidFill>
                <a:latin typeface="Cambria" pitchFamily="34" charset="0"/>
                <a:ea typeface="Cambria" pitchFamily="34" charset="-122"/>
                <a:cs typeface="Cambria" pitchFamily="34" charset="-120"/>
              </a:defRPr>
            </a:lvl1pPr>
          </a:lstStyle>
          <a:p>
            <a:pPr marL="0" indent="0">
              <a:buNone/>
            </a:pPr>
            <a:endParaRPr lang="en-US" sz="3600" dirty="0"/>
          </a:p>
        </p:txBody>
      </p:sp>
      <p:sp>
        <p:nvSpPr>
          <p:cNvPr id="3" name="Text 0"/>
          <p:cNvSpPr/>
          <p:nvPr/>
        </p:nvSpPr>
        <p:spPr>
          <a:xfrm>
            <a:off x="548640" y="6382512"/>
            <a:ext cx="7315200" cy="274320"/>
          </a:xfrm>
          <a:prstGeom prst="rect">
            <a:avLst/>
          </a:prstGeom>
          <a:noFill/>
          <a:ln/>
        </p:spPr>
        <p:txBody>
          <a:bodyPr wrap="square" lIns="0" tIns="0" rIns="0" bIns="0" rtlCol="0" anchor="ctr"/>
          <a:lstStyle/>
          <a:p>
            <a:pPr marL="0" indent="0">
              <a:buNone/>
            </a:pPr>
            <a:r>
              <a:rPr lang="en-US" sz="1000" dirty="0">
                <a:solidFill>
                  <a:schemeClr val="accent4"/>
                </a:solidFill>
              </a:rPr>
              <a:t>GSM-Symbolic reproduction  ·  FLLM paper reading</a:t>
            </a:r>
            <a:endParaRPr lang="en-US" sz="10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1064240" cy="173736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Can LLMs actually do grade-school math?</a:t>
            </a:r>
            <a:endParaRPr lang="en-US" sz="4400" dirty="0"/>
          </a:p>
        </p:txBody>
      </p:sp>
      <p:sp>
        <p:nvSpPr>
          <p:cNvPr id="3" name="Text 0"/>
          <p:cNvSpPr>
            <a:spLocks noGrp="1"/>
          </p:cNvSpPr>
          <p:nvPr>
            <p:ph type="body" idx="101" hasCustomPrompt="1"/>
          </p:nvPr>
        </p:nvSpPr>
        <p:spPr>
          <a:xfrm>
            <a:off x="548640" y="3749040"/>
            <a:ext cx="9601200" cy="1188720"/>
          </a:xfrm>
          <a:prstGeom prst="rect">
            <a:avLst/>
          </a:prstGeom>
          <a:noFill/>
          <a:ln/>
        </p:spPr>
        <p:txBody>
          <a:bodyPr wrap="square" lIns="0" tIns="0" rIns="0" bIns="0" rtlCol="0" anchor="t"/>
          <a:lstStyle/>
          <a:p>
            <a:pPr marL="0" indent="0">
              <a:buNone/>
            </a:pPr>
            <a:r>
              <a:rPr lang="en-US" sz="2000" b="1" dirty="0">
                <a:solidFill>
                  <a:schemeClr val="bg1"/>
                </a:solidFill>
              </a:rPr>
              <a:t>A reproduction of GSM-Symbolic</a:t>
            </a:r>
            <a:endParaRPr lang="en-US" sz="2000" dirty="0"/>
          </a:p>
          <a:p>
            <a:pPr marL="0" indent="0">
              <a:buNone/>
            </a:pPr>
            <a:r>
              <a:rPr lang="en-US" sz="2000" dirty="0">
                <a:solidFill>
                  <a:schemeClr val="accent6"/>
                </a:solidFill>
              </a:rPr>
              <a:t>Mirzadeh et al. (Apple), ICLR 2025  ·  FLLM paper reading</a:t>
            </a:r>
            <a:endParaRPr lang="en-US" sz="2000" dirty="0"/>
          </a:p>
        </p:txBody>
      </p:sp>
      <p:sp>
        <p:nvSpPr>
          <p:cNvPr id="4" name="template motif"/>
          <p:cNvSpPr txBox="1"/>
          <p:nvPr/>
        </p:nvSpPr>
        <p:spPr>
          <a:xfrm>
            <a:off x="548640" y="5760720"/>
            <a:ext cx="8229600" cy="365760"/>
          </a:xfrm>
          <a:prstGeom prst="rect">
            <a:avLst/>
          </a:prstGeom>
          <a:noFill/>
          <a:ln/>
        </p:spPr>
        <p:txBody>
          <a:bodyPr wrap="square" lIns="0" tIns="0" rIns="0" bIns="0" rtlCol="0" anchor="t"/>
          <a:lstStyle/>
          <a:p>
            <a:pPr marL="0" indent="0">
              <a:buNone/>
            </a:pPr>
            <a:r>
              <a:rPr lang="en-US" sz="1400" dirty="0">
                <a:solidFill>
                  <a:schemeClr val="accent2"/>
                </a:solidFill>
                <a:latin typeface="Courier New" pitchFamily="34" charset="0"/>
                <a:ea typeface="Courier New" pitchFamily="34" charset="-122"/>
                <a:cs typeface="Courier New" pitchFamily="34" charset="-120"/>
              </a:rPr>
              <a:t>{name, Benny}</a:t>
            </a:r>
            <a:r>
              <a:rPr lang="en-US" sz="1400" dirty="0">
                <a:solidFill>
                  <a:schemeClr val="accent4"/>
                </a:solidFill>
                <a:latin typeface="Courier New" pitchFamily="34" charset="0"/>
                <a:ea typeface="Courier New" pitchFamily="34" charset="-122"/>
                <a:cs typeface="Courier New" pitchFamily="34" charset="-120"/>
              </a:rPr>
              <a:t> saw a </a:t>
            </a:r>
            <a:r>
              <a:rPr lang="en-US" sz="1400" dirty="0">
                <a:solidFill>
                  <a:schemeClr val="accent2"/>
                </a:solidFill>
                <a:latin typeface="Courier New" pitchFamily="34" charset="0"/>
                <a:ea typeface="Courier New" pitchFamily="34" charset="-122"/>
                <a:cs typeface="Courier New" pitchFamily="34" charset="-120"/>
              </a:rPr>
              <a:t>{x, 10}</a:t>
            </a:r>
            <a:r>
              <a:rPr lang="en-US" sz="1400" dirty="0">
                <a:solidFill>
                  <a:schemeClr val="accent4"/>
                </a:solidFill>
                <a:latin typeface="Courier New" pitchFamily="34" charset="0"/>
                <a:ea typeface="Courier New" pitchFamily="34" charset="-122"/>
                <a:cs typeface="Courier New" pitchFamily="34" charset="-120"/>
              </a:rPr>
              <a:t>-foot shark with </a:t>
            </a:r>
            <a:r>
              <a:rPr lang="en-US" sz="1400" dirty="0">
                <a:solidFill>
                  <a:schemeClr val="accent2"/>
                </a:solidFill>
                <a:latin typeface="Courier New" pitchFamily="34" charset="0"/>
                <a:ea typeface="Courier New" pitchFamily="34" charset="-122"/>
                <a:cs typeface="Courier New" pitchFamily="34" charset="-120"/>
              </a:rPr>
              <a:t>{k, 2}</a:t>
            </a:r>
            <a:r>
              <a:rPr lang="en-US" sz="1400" dirty="0">
                <a:solidFill>
                  <a:schemeClr val="accent4"/>
                </a:solidFill>
                <a:latin typeface="Courier New" pitchFamily="34" charset="0"/>
                <a:ea typeface="Courier New" pitchFamily="34" charset="-122"/>
                <a:cs typeface="Courier New" pitchFamily="34" charset="-120"/>
              </a:rPr>
              <a:t> remoras…</a:t>
            </a:r>
            <a:endParaRPr lang="en-US" sz="1400" dirty="0"/>
          </a:p>
        </p:txBody>
      </p:sp>
      <p:pic>
        <p:nvPicPr>
          <p:cNvPr id="5" name="Audio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571288" y="6237288"/>
            <a:ext cx="468312" cy="46831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063"/>
    </mc:Choice>
    <mc:Fallback>
      <p:transition spd="slow" advTm="3506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One extra sentence, one wrong answer</a:t>
            </a:r>
            <a:endParaRPr lang="en-US" sz="3600" dirty="0"/>
          </a:p>
        </p:txBody>
      </p:sp>
      <p:sp>
        <p:nvSpPr>
          <p:cNvPr id="3" name="question card"/>
          <p:cNvSpPr/>
          <p:nvPr/>
        </p:nvSpPr>
        <p:spPr>
          <a:xfrm>
            <a:off x="548640" y="1371600"/>
            <a:ext cx="6949440" cy="2743200"/>
          </a:xfrm>
          <a:prstGeom prst="roundRect">
            <a:avLst>
              <a:gd name="adj" fmla="val 4000"/>
            </a:avLst>
          </a:prstGeom>
          <a:solidFill>
            <a:schemeClr val="bg2"/>
          </a:solidFill>
          <a:ln/>
        </p:spPr>
      </p:sp>
      <p:sp>
        <p:nvSpPr>
          <p:cNvPr id="4" name="Text 2"/>
          <p:cNvSpPr txBox="1"/>
          <p:nvPr/>
        </p:nvSpPr>
        <p:spPr>
          <a:xfrm>
            <a:off x="868680" y="1600200"/>
            <a:ext cx="64008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THE QUESTION</a:t>
            </a:r>
            <a:endParaRPr lang="en-US" sz="1200" dirty="0"/>
          </a:p>
        </p:txBody>
      </p:sp>
      <p:sp>
        <p:nvSpPr>
          <p:cNvPr id="5" name="Text 3"/>
          <p:cNvSpPr txBox="1"/>
          <p:nvPr/>
        </p:nvSpPr>
        <p:spPr>
          <a:xfrm>
            <a:off x="868680" y="1965960"/>
            <a:ext cx="6309360" cy="2011680"/>
          </a:xfrm>
          <a:prstGeom prst="rect">
            <a:avLst/>
          </a:prstGeom>
          <a:noFill/>
          <a:ln/>
        </p:spPr>
        <p:txBody>
          <a:bodyPr wrap="square" lIns="0" tIns="0" rIns="0" bIns="0" rtlCol="0" anchor="t"/>
          <a:lstStyle/>
          <a:p>
            <a:pPr marL="0" indent="0">
              <a:lnSpc>
                <a:spcPct val="110000"/>
              </a:lnSpc>
              <a:buNone/>
            </a:pPr>
            <a:r>
              <a:rPr lang="en-US" sz="2000" dirty="0">
                <a:solidFill>
                  <a:schemeClr val="tx1"/>
                </a:solidFill>
              </a:rPr>
              <a:t>A fog bank rolls in from the ocean to cover a city. It takes 342 minutes to cover every 24 miles of the city. </a:t>
            </a:r>
            <a:r>
              <a:rPr lang="en-US" sz="2000" b="1" dirty="0">
                <a:solidFill>
                  <a:schemeClr val="accent3"/>
                </a:solidFill>
              </a:rPr>
              <a:t>The fog is 4 times thicker than it was last week.</a:t>
            </a:r>
            <a:r>
              <a:rPr lang="en-US" sz="2000" dirty="0">
                <a:solidFill>
                  <a:schemeClr val="tx1"/>
                </a:solidFill>
              </a:rPr>
              <a:t> If the city is 48 miles across, how many minutes will it take for the fog bank to cover the whole city?</a:t>
            </a:r>
            <a:endParaRPr lang="en-US" sz="2000" dirty="0"/>
          </a:p>
        </p:txBody>
      </p:sp>
      <p:sp>
        <p:nvSpPr>
          <p:cNvPr id="6" name="Text 4"/>
          <p:cNvSpPr txBox="1"/>
          <p:nvPr/>
        </p:nvSpPr>
        <p:spPr>
          <a:xfrm>
            <a:off x="548640" y="4389120"/>
            <a:ext cx="6949440" cy="822960"/>
          </a:xfrm>
          <a:prstGeom prst="rect">
            <a:avLst/>
          </a:prstGeom>
          <a:noFill/>
          <a:ln/>
        </p:spPr>
        <p:txBody>
          <a:bodyPr wrap="square" lIns="0" tIns="0" rIns="0" bIns="0" rtlCol="0" anchor="t"/>
          <a:lstStyle/>
          <a:p>
            <a:pPr marL="0" indent="0">
              <a:buNone/>
            </a:pPr>
            <a:r>
              <a:rPr lang="en-US" sz="1600" b="1" dirty="0">
                <a:solidFill>
                  <a:schemeClr val="tx1"/>
                </a:solidFill>
              </a:rPr>
              <a:t>The model's reasoning: </a:t>
            </a:r>
            <a:r>
              <a:rPr lang="en-US" sz="1600" i="1" dirty="0">
                <a:solidFill>
                  <a:schemeClr val="accent5"/>
                </a:solidFill>
              </a:rPr>
              <a:t>“…the fog is 14.25 × 4 = 57 miles thick … 57 / 14.25 = 4 minutes.”</a:t>
            </a:r>
            <a:endParaRPr lang="en-US" sz="1600" dirty="0"/>
          </a:p>
        </p:txBody>
      </p:sp>
      <p:sp>
        <p:nvSpPr>
          <p:cNvPr id="7" name="gold value"/>
          <p:cNvSpPr txBox="1"/>
          <p:nvPr/>
        </p:nvSpPr>
        <p:spPr>
          <a:xfrm>
            <a:off x="8229600" y="1463040"/>
            <a:ext cx="3383280" cy="868680"/>
          </a:xfrm>
          <a:prstGeom prst="rect">
            <a:avLst/>
          </a:prstGeom>
          <a:noFill/>
          <a:ln/>
        </p:spPr>
        <p:txBody>
          <a:bodyPr wrap="square" lIns="0" tIns="0" rIns="0" bIns="0" rtlCol="0" anchor="t"/>
          <a:lstStyle/>
          <a:p>
            <a:pPr marL="0" indent="0">
              <a:buNone/>
            </a:pPr>
            <a:r>
              <a:rPr lang="en-US" sz="4800" b="1" dirty="0">
                <a:solidFill>
                  <a:schemeClr val="accent1"/>
                </a:solidFill>
                <a:latin typeface="Cambria" pitchFamily="34" charset="0"/>
                <a:ea typeface="Cambria" pitchFamily="34" charset="-122"/>
                <a:cs typeface="Cambria" pitchFamily="34" charset="-120"/>
              </a:rPr>
              <a:t>684</a:t>
            </a:r>
            <a:endParaRPr lang="en-US" sz="4800" dirty="0"/>
          </a:p>
        </p:txBody>
      </p:sp>
      <p:sp>
        <p:nvSpPr>
          <p:cNvPr id="8" name="gold label"/>
          <p:cNvSpPr txBox="1"/>
          <p:nvPr/>
        </p:nvSpPr>
        <p:spPr>
          <a:xfrm>
            <a:off x="8229600" y="2359152"/>
            <a:ext cx="3383280" cy="640080"/>
          </a:xfrm>
          <a:prstGeom prst="rect">
            <a:avLst/>
          </a:prstGeom>
          <a:noFill/>
          <a:ln/>
        </p:spPr>
        <p:txBody>
          <a:bodyPr wrap="square" lIns="0" tIns="0" rIns="0" bIns="0" rtlCol="0" anchor="t"/>
          <a:lstStyle/>
          <a:p>
            <a:pPr marL="0" indent="0">
              <a:buNone/>
            </a:pPr>
            <a:r>
              <a:rPr lang="en-US" sz="1400" dirty="0">
                <a:solidFill>
                  <a:schemeClr val="accent5"/>
                </a:solidFill>
              </a:rPr>
              <a:t>correct answer (minutes)</a:t>
            </a:r>
            <a:endParaRPr lang="en-US" sz="1400" dirty="0"/>
          </a:p>
        </p:txBody>
      </p:sp>
      <p:sp>
        <p:nvSpPr>
          <p:cNvPr id="9" name="pred value"/>
          <p:cNvSpPr txBox="1"/>
          <p:nvPr/>
        </p:nvSpPr>
        <p:spPr>
          <a:xfrm>
            <a:off x="8229600" y="3200400"/>
            <a:ext cx="3383280" cy="868680"/>
          </a:xfrm>
          <a:prstGeom prst="rect">
            <a:avLst/>
          </a:prstGeom>
          <a:noFill/>
          <a:ln/>
        </p:spPr>
        <p:txBody>
          <a:bodyPr wrap="square" lIns="0" tIns="0" rIns="0" bIns="0" rtlCol="0" anchor="t"/>
          <a:lstStyle/>
          <a:p>
            <a:pPr marL="0" indent="0">
              <a:buNone/>
            </a:pPr>
            <a:r>
              <a:rPr lang="en-US" sz="4800" b="1" dirty="0">
                <a:solidFill>
                  <a:schemeClr val="accent3"/>
                </a:solidFill>
                <a:latin typeface="Cambria" pitchFamily="34" charset="0"/>
                <a:ea typeface="Cambria" pitchFamily="34" charset="-122"/>
                <a:cs typeface="Cambria" pitchFamily="34" charset="-120"/>
              </a:rPr>
              <a:t>4</a:t>
            </a:r>
            <a:endParaRPr lang="en-US" sz="4800" dirty="0"/>
          </a:p>
        </p:txBody>
      </p:sp>
      <p:sp>
        <p:nvSpPr>
          <p:cNvPr id="10" name="pred label"/>
          <p:cNvSpPr txBox="1"/>
          <p:nvPr/>
        </p:nvSpPr>
        <p:spPr>
          <a:xfrm>
            <a:off x="8229600" y="4096512"/>
            <a:ext cx="3383280" cy="640080"/>
          </a:xfrm>
          <a:prstGeom prst="rect">
            <a:avLst/>
          </a:prstGeom>
          <a:noFill/>
          <a:ln/>
        </p:spPr>
        <p:txBody>
          <a:bodyPr wrap="square" lIns="0" tIns="0" rIns="0" bIns="0" rtlCol="0" anchor="t"/>
          <a:lstStyle/>
          <a:p>
            <a:pPr marL="0" indent="0">
              <a:buNone/>
            </a:pPr>
            <a:r>
              <a:rPr lang="en-US" sz="1400" dirty="0">
                <a:solidFill>
                  <a:schemeClr val="accent5"/>
                </a:solidFill>
              </a:rPr>
              <a:t>small Qwen2.5 model's answer: it multiplied by the irrelevant “4 times”</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Why one GSM8K score can mislead</a:t>
            </a:r>
            <a:endParaRPr lang="en-US" sz="3600" dirty="0"/>
          </a:p>
        </p:txBody>
      </p:sp>
      <p:sp>
        <p:nvSpPr>
          <p:cNvPr id="3" name="why card 1"/>
          <p:cNvSpPr/>
          <p:nvPr/>
        </p:nvSpPr>
        <p:spPr>
          <a:xfrm>
            <a:off x="548640" y="1417320"/>
            <a:ext cx="5394960" cy="3291840"/>
          </a:xfrm>
          <a:prstGeom prst="roundRect">
            <a:avLst>
              <a:gd name="adj" fmla="val 3333"/>
            </a:avLst>
          </a:prstGeom>
          <a:solidFill>
            <a:schemeClr val="bg2"/>
          </a:solidFill>
          <a:ln/>
        </p:spPr>
      </p:sp>
      <p:sp>
        <p:nvSpPr>
          <p:cNvPr id="4" name="why 1 circle"/>
          <p:cNvSpPr/>
          <p:nvPr/>
        </p:nvSpPr>
        <p:spPr>
          <a:xfrm>
            <a:off x="914400" y="1737360"/>
            <a:ext cx="777240" cy="777240"/>
          </a:xfrm>
          <a:prstGeom prst="ellipse">
            <a:avLst/>
          </a:prstGeom>
          <a:solidFill>
            <a:schemeClr val="accent3"/>
          </a:solidFill>
          <a:ln/>
        </p:spPr>
      </p:sp>
      <p:pic>
        <p:nvPicPr>
          <p:cNvPr id="5" name="why 1 icon" descr="preencoded.png"/>
          <p:cNvPicPr>
            <a:picLocks noChangeAspect="1"/>
          </p:cNvPicPr>
          <p:nvPr/>
        </p:nvPicPr>
        <p:blipFill>
          <a:blip r:embed="rId3"/>
          <a:stretch>
            <a:fillRect/>
          </a:stretch>
        </p:blipFill>
        <p:spPr>
          <a:xfrm>
            <a:off x="1108710" y="1931670"/>
            <a:ext cx="388620" cy="388620"/>
          </a:xfrm>
          <a:prstGeom prst="rect">
            <a:avLst/>
          </a:prstGeom>
        </p:spPr>
      </p:pic>
      <p:sp>
        <p:nvSpPr>
          <p:cNvPr id="6" name="Text 3"/>
          <p:cNvSpPr txBox="1"/>
          <p:nvPr/>
        </p:nvSpPr>
        <p:spPr>
          <a:xfrm>
            <a:off x="914400" y="2697480"/>
            <a:ext cx="4663440" cy="45720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Contamination</a:t>
            </a:r>
            <a:endParaRPr lang="en-US" sz="2200" dirty="0"/>
          </a:p>
        </p:txBody>
      </p:sp>
      <p:sp>
        <p:nvSpPr>
          <p:cNvPr id="7" name="Text 4"/>
          <p:cNvSpPr txBox="1"/>
          <p:nvPr/>
        </p:nvSpPr>
        <p:spPr>
          <a:xfrm>
            <a:off x="914400" y="3246120"/>
            <a:ext cx="4663440" cy="1371600"/>
          </a:xfrm>
          <a:prstGeom prst="rect">
            <a:avLst/>
          </a:prstGeom>
          <a:noFill/>
          <a:ln/>
        </p:spPr>
        <p:txBody>
          <a:bodyPr wrap="square" lIns="0" tIns="0" rIns="0" bIns="0" rtlCol="0" anchor="t"/>
          <a:lstStyle/>
          <a:p>
            <a:pPr marL="0" indent="0">
              <a:buNone/>
            </a:pPr>
            <a:r>
              <a:rPr lang="en-US" sz="1600" dirty="0">
                <a:solidFill>
                  <a:schemeClr val="tx1"/>
                </a:solidFill>
              </a:rPr>
              <a:t>GSM8K has been public since 2021. Its exact questions, names and numbers are likely in the training data, so a high score may partly be memory.</a:t>
            </a:r>
            <a:endParaRPr lang="en-US" sz="1600" dirty="0"/>
          </a:p>
        </p:txBody>
      </p:sp>
      <p:sp>
        <p:nvSpPr>
          <p:cNvPr id="8" name="why card 2"/>
          <p:cNvSpPr/>
          <p:nvPr/>
        </p:nvSpPr>
        <p:spPr>
          <a:xfrm>
            <a:off x="6245352" y="1417320"/>
            <a:ext cx="5394960" cy="3291840"/>
          </a:xfrm>
          <a:prstGeom prst="roundRect">
            <a:avLst>
              <a:gd name="adj" fmla="val 3333"/>
            </a:avLst>
          </a:prstGeom>
          <a:solidFill>
            <a:schemeClr val="bg2"/>
          </a:solidFill>
          <a:ln/>
        </p:spPr>
      </p:sp>
      <p:sp>
        <p:nvSpPr>
          <p:cNvPr id="9" name="why 2 circle"/>
          <p:cNvSpPr/>
          <p:nvPr/>
        </p:nvSpPr>
        <p:spPr>
          <a:xfrm>
            <a:off x="6611112" y="1737360"/>
            <a:ext cx="777240" cy="777240"/>
          </a:xfrm>
          <a:prstGeom prst="ellipse">
            <a:avLst/>
          </a:prstGeom>
          <a:solidFill>
            <a:schemeClr val="accent2"/>
          </a:solidFill>
          <a:ln/>
        </p:spPr>
      </p:sp>
      <p:pic>
        <p:nvPicPr>
          <p:cNvPr id="10" name="why 2 icon" descr="preencoded.png"/>
          <p:cNvPicPr>
            <a:picLocks noChangeAspect="1"/>
          </p:cNvPicPr>
          <p:nvPr/>
        </p:nvPicPr>
        <p:blipFill>
          <a:blip r:embed="rId4"/>
          <a:stretch>
            <a:fillRect/>
          </a:stretch>
        </p:blipFill>
        <p:spPr>
          <a:xfrm>
            <a:off x="6805422" y="1931670"/>
            <a:ext cx="388620" cy="388620"/>
          </a:xfrm>
          <a:prstGeom prst="rect">
            <a:avLst/>
          </a:prstGeom>
        </p:spPr>
      </p:pic>
      <p:sp>
        <p:nvSpPr>
          <p:cNvPr id="11" name="Text 7"/>
          <p:cNvSpPr txBox="1"/>
          <p:nvPr/>
        </p:nvSpPr>
        <p:spPr>
          <a:xfrm>
            <a:off x="6611112" y="2697480"/>
            <a:ext cx="4663440" cy="45720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One number hides the spread</a:t>
            </a:r>
            <a:endParaRPr lang="en-US" sz="2200" dirty="0"/>
          </a:p>
        </p:txBody>
      </p:sp>
      <p:sp>
        <p:nvSpPr>
          <p:cNvPr id="12" name="Text 8"/>
          <p:cNvSpPr txBox="1"/>
          <p:nvPr/>
        </p:nvSpPr>
        <p:spPr>
          <a:xfrm>
            <a:off x="6611112" y="3246120"/>
            <a:ext cx="4663440" cy="1371600"/>
          </a:xfrm>
          <a:prstGeom prst="rect">
            <a:avLst/>
          </a:prstGeom>
          <a:noFill/>
          <a:ln/>
        </p:spPr>
        <p:txBody>
          <a:bodyPr wrap="square" lIns="0" tIns="0" rIns="0" bIns="0" rtlCol="0" anchor="t"/>
          <a:lstStyle/>
          <a:p>
            <a:pPr marL="0" indent="0">
              <a:buNone/>
            </a:pPr>
            <a:r>
              <a:rPr lang="en-US" sz="1600" dirty="0">
                <a:solidFill>
                  <a:schemeClr val="tx1"/>
                </a:solidFill>
              </a:rPr>
              <a:t>A single accuracy on a single fixed test set says nothing about stability. Same questions with new numbers: same score?</a:t>
            </a:r>
            <a:endParaRPr lang="en-US" sz="1600" dirty="0"/>
          </a:p>
        </p:txBody>
      </p:sp>
      <p:sp>
        <p:nvSpPr>
          <p:cNvPr id="13" name="Text 9"/>
          <p:cNvSpPr txBox="1"/>
          <p:nvPr/>
        </p:nvSpPr>
        <p:spPr>
          <a:xfrm>
            <a:off x="548640" y="5120640"/>
            <a:ext cx="11094415" cy="548640"/>
          </a:xfrm>
          <a:prstGeom prst="rect">
            <a:avLst/>
          </a:prstGeom>
          <a:noFill/>
          <a:ln/>
        </p:spPr>
        <p:txBody>
          <a:bodyPr wrap="square" lIns="0" tIns="0" rIns="0" bIns="0" rtlCol="0" anchor="t"/>
          <a:lstStyle/>
          <a:p>
            <a:pPr marL="0" indent="0">
              <a:buNone/>
            </a:pPr>
            <a:r>
              <a:rPr lang="en-US" sz="1800" b="1" i="1" dirty="0">
                <a:solidFill>
                  <a:schemeClr val="accent1"/>
                </a:solidFill>
              </a:rPr>
              <a:t>The paper's idea: </a:t>
            </a:r>
            <a:r>
              <a:rPr lang="en-US" sz="1800" i="1" dirty="0">
                <a:solidFill>
                  <a:schemeClr val="tx1"/>
                </a:solidFill>
              </a:rPr>
              <a:t>don't test on fixed questions. Test on templates that generate endless fresh variants.</a:t>
            </a:r>
            <a:endParaRPr lang="en-US" sz="18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From a fixed question to a template</a:t>
            </a:r>
            <a:endParaRPr lang="en-US" sz="3600" dirty="0"/>
          </a:p>
        </p:txBody>
      </p:sp>
      <p:sp>
        <p:nvSpPr>
          <p:cNvPr id="3" name="gsm8k card"/>
          <p:cNvSpPr/>
          <p:nvPr/>
        </p:nvSpPr>
        <p:spPr>
          <a:xfrm>
            <a:off x="548640" y="1417320"/>
            <a:ext cx="3931920" cy="3154680"/>
          </a:xfrm>
          <a:prstGeom prst="roundRect">
            <a:avLst>
              <a:gd name="adj" fmla="val 3478"/>
            </a:avLst>
          </a:prstGeom>
          <a:solidFill>
            <a:schemeClr val="bg2"/>
          </a:solidFill>
          <a:ln/>
        </p:spPr>
      </p:sp>
      <p:sp>
        <p:nvSpPr>
          <p:cNvPr id="4" name="Text 2"/>
          <p:cNvSpPr txBox="1"/>
          <p:nvPr/>
        </p:nvSpPr>
        <p:spPr>
          <a:xfrm>
            <a:off x="868680" y="1645920"/>
            <a:ext cx="329184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GSM8K (FIXED)</a:t>
            </a:r>
            <a:endParaRPr lang="en-US" sz="1200" dirty="0"/>
          </a:p>
        </p:txBody>
      </p:sp>
      <p:sp>
        <p:nvSpPr>
          <p:cNvPr id="5" name="Text 3"/>
          <p:cNvSpPr txBox="1"/>
          <p:nvPr/>
        </p:nvSpPr>
        <p:spPr>
          <a:xfrm>
            <a:off x="868680" y="2011680"/>
            <a:ext cx="3291840" cy="2468880"/>
          </a:xfrm>
          <a:prstGeom prst="rect">
            <a:avLst/>
          </a:prstGeom>
          <a:noFill/>
          <a:ln/>
        </p:spPr>
        <p:txBody>
          <a:bodyPr wrap="square" lIns="0" tIns="0" rIns="0" bIns="0" rtlCol="0" anchor="t"/>
          <a:lstStyle/>
          <a:p>
            <a:pPr marL="0" indent="0">
              <a:lnSpc>
                <a:spcPct val="110000"/>
              </a:lnSpc>
              <a:buNone/>
            </a:pPr>
            <a:r>
              <a:rPr lang="en-US" sz="1800" dirty="0">
                <a:solidFill>
                  <a:schemeClr val="tx1"/>
                </a:solidFill>
              </a:rPr>
              <a:t>Benny saw a 10-foot shark with 2 6-inch remoras attached to it. What percentage of the shark's body length is the combined length of the remoras?</a:t>
            </a:r>
            <a:endParaRPr lang="en-US" sz="1800" dirty="0"/>
          </a:p>
        </p:txBody>
      </p:sp>
      <p:sp>
        <p:nvSpPr>
          <p:cNvPr id="6" name="arrow"/>
          <p:cNvSpPr/>
          <p:nvPr/>
        </p:nvSpPr>
        <p:spPr>
          <a:xfrm>
            <a:off x="4617720" y="2999232"/>
            <a:ext cx="685800" cy="0"/>
          </a:xfrm>
          <a:prstGeom prst="line">
            <a:avLst/>
          </a:prstGeom>
          <a:noFill/>
          <a:ln w="38100">
            <a:solidFill>
              <a:schemeClr val="accent4"/>
            </a:solidFill>
            <a:prstDash val="solid"/>
            <a:tailEnd type="triangle"/>
          </a:ln>
        </p:spPr>
      </p:sp>
      <p:sp>
        <p:nvSpPr>
          <p:cNvPr id="7" name="template card"/>
          <p:cNvSpPr/>
          <p:nvPr/>
        </p:nvSpPr>
        <p:spPr>
          <a:xfrm>
            <a:off x="5486400" y="1417320"/>
            <a:ext cx="6153912" cy="3154680"/>
          </a:xfrm>
          <a:prstGeom prst="roundRect">
            <a:avLst>
              <a:gd name="adj" fmla="val 3478"/>
            </a:avLst>
          </a:prstGeom>
          <a:solidFill>
            <a:schemeClr val="tx2"/>
          </a:solidFill>
          <a:ln/>
        </p:spPr>
      </p:sp>
      <p:sp>
        <p:nvSpPr>
          <p:cNvPr id="8" name="Text 6"/>
          <p:cNvSpPr txBox="1"/>
          <p:nvPr/>
        </p:nvSpPr>
        <p:spPr>
          <a:xfrm>
            <a:off x="5806440" y="1645920"/>
            <a:ext cx="5577840" cy="2834640"/>
          </a:xfrm>
          <a:prstGeom prst="rect">
            <a:avLst/>
          </a:prstGeom>
          <a:noFill/>
          <a:ln/>
        </p:spPr>
        <p:txBody>
          <a:bodyPr wrap="square" lIns="0" tIns="0" rIns="0" bIns="0" rtlCol="0" anchor="t"/>
          <a:lstStyle/>
          <a:p>
            <a:pPr marL="0" indent="0">
              <a:lnSpc>
                <a:spcPct val="105000"/>
              </a:lnSpc>
              <a:buNone/>
            </a:pPr>
            <a:r>
              <a:rPr lang="en-US" sz="1400" b="1" dirty="0">
                <a:solidFill>
                  <a:schemeClr val="accent2"/>
                </a:solidFill>
                <a:latin typeface="Courier New" pitchFamily="34" charset="0"/>
                <a:ea typeface="Courier New" pitchFamily="34" charset="-122"/>
                <a:cs typeface="Courier New" pitchFamily="34" charset="-120"/>
              </a:rPr>
              <a:t>{n, Benny}</a:t>
            </a:r>
            <a:r>
              <a:rPr lang="en-US" sz="1400" dirty="0">
                <a:solidFill>
                  <a:schemeClr val="bg1"/>
                </a:solidFill>
                <a:latin typeface="Courier New" pitchFamily="34" charset="0"/>
                <a:ea typeface="Courier New" pitchFamily="34" charset="-122"/>
                <a:cs typeface="Courier New" pitchFamily="34" charset="-120"/>
              </a:rPr>
              <a:t> saw a </a:t>
            </a:r>
            <a:r>
              <a:rPr lang="en-US" sz="1400" b="1" dirty="0">
                <a:solidFill>
                  <a:schemeClr val="accent2"/>
                </a:solidFill>
                <a:latin typeface="Courier New" pitchFamily="34" charset="0"/>
                <a:ea typeface="Courier New" pitchFamily="34" charset="-122"/>
                <a:cs typeface="Courier New" pitchFamily="34" charset="-120"/>
              </a:rPr>
              <a:t>{x, 10}</a:t>
            </a:r>
            <a:r>
              <a:rPr lang="en-US" sz="1400" dirty="0">
                <a:solidFill>
                  <a:schemeClr val="bg1"/>
                </a:solidFill>
                <a:latin typeface="Courier New" pitchFamily="34" charset="0"/>
                <a:ea typeface="Courier New" pitchFamily="34" charset="-122"/>
                <a:cs typeface="Courier New" pitchFamily="34" charset="-120"/>
              </a:rPr>
              <a:t>-foot </a:t>
            </a:r>
            <a:r>
              <a:rPr lang="en-US" sz="1400" b="1" dirty="0">
                <a:solidFill>
                  <a:schemeClr val="accent2"/>
                </a:solidFill>
                <a:latin typeface="Courier New" pitchFamily="34" charset="0"/>
                <a:ea typeface="Courier New" pitchFamily="34" charset="-122"/>
                <a:cs typeface="Courier New" pitchFamily="34" charset="-120"/>
              </a:rPr>
              <a:t>{big_fish, shark}</a:t>
            </a:r>
            <a:r>
              <a:rPr lang="en-US" sz="1400" dirty="0">
                <a:solidFill>
                  <a:schemeClr val="bg1"/>
                </a:solidFill>
                <a:latin typeface="Courier New" pitchFamily="34" charset="0"/>
                <a:ea typeface="Courier New" pitchFamily="34" charset="-122"/>
                <a:cs typeface="Courier New" pitchFamily="34" charset="-120"/>
              </a:rPr>
              <a:t> with </a:t>
            </a:r>
            <a:r>
              <a:rPr lang="en-US" sz="1400" b="1" dirty="0">
                <a:solidFill>
                  <a:schemeClr val="accent2"/>
                </a:solidFill>
                <a:latin typeface="Courier New" pitchFamily="34" charset="0"/>
                <a:ea typeface="Courier New" pitchFamily="34" charset="-122"/>
                <a:cs typeface="Courier New" pitchFamily="34" charset="-120"/>
              </a:rPr>
              <a:t>{k, 2}</a:t>
            </a:r>
            <a:r>
              <a:rPr lang="en-US" sz="1400" dirty="0">
                <a:solidFill>
                  <a:schemeClr val="bg1"/>
                </a:solidFill>
                <a:latin typeface="Courier New" pitchFamily="34" charset="0"/>
                <a:ea typeface="Courier New" pitchFamily="34" charset="-122"/>
                <a:cs typeface="Courier New" pitchFamily="34" charset="-120"/>
              </a:rPr>
              <a:t> </a:t>
            </a:r>
            <a:r>
              <a:rPr lang="en-US" sz="1400" b="1" dirty="0">
                <a:solidFill>
                  <a:schemeClr val="accent2"/>
                </a:solidFill>
                <a:latin typeface="Courier New" pitchFamily="34" charset="0"/>
                <a:ea typeface="Courier New" pitchFamily="34" charset="-122"/>
                <a:cs typeface="Courier New" pitchFamily="34" charset="-120"/>
              </a:rPr>
              <a:t>{y, 6}</a:t>
            </a:r>
            <a:r>
              <a:rPr lang="en-US" sz="1400" dirty="0">
                <a:solidFill>
                  <a:schemeClr val="bg1"/>
                </a:solidFill>
                <a:latin typeface="Courier New" pitchFamily="34" charset="0"/>
                <a:ea typeface="Courier New" pitchFamily="34" charset="-122"/>
                <a:cs typeface="Courier New" pitchFamily="34" charset="-120"/>
              </a:rPr>
              <a:t>-inch remoras…</a:t>
            </a:r>
            <a:endParaRPr lang="en-US" sz="1400" dirty="0"/>
          </a:p>
          <a:p>
            <a:pPr marL="0" indent="0">
              <a:lnSpc>
                <a:spcPct val="105000"/>
              </a:lnSpc>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marL="0" indent="0">
              <a:lnSpc>
                <a:spcPct val="105000"/>
              </a:lnSpc>
              <a:buNone/>
            </a:pPr>
            <a:r>
              <a:rPr lang="en-US" sz="1400" dirty="0">
                <a:solidFill>
                  <a:schemeClr val="accent4"/>
                </a:solidFill>
                <a:latin typeface="Courier New" pitchFamily="34" charset="0"/>
                <a:ea typeface="Courier New" pitchFamily="34" charset="-122"/>
                <a:cs typeface="Courier New" pitchFamily="34" charset="-120"/>
              </a:rPr>
              <a:t>#init:</a:t>
            </a:r>
            <a:endParaRPr lang="en-US" sz="1400" dirty="0"/>
          </a:p>
          <a:p>
            <a:pPr marL="0" indent="0">
              <a:lnSpc>
                <a:spcPct val="105000"/>
              </a:lnSpc>
              <a:buNone/>
            </a:pPr>
            <a:r>
              <a:rPr lang="en-US" sz="1400" dirty="0">
                <a:solidFill>
                  <a:schemeClr val="bg1"/>
                </a:solidFill>
                <a:latin typeface="Courier New" pitchFamily="34" charset="0"/>
                <a:ea typeface="Courier New" pitchFamily="34" charset="-122"/>
                <a:cs typeface="Courier New" pitchFamily="34" charset="-120"/>
              </a:rPr>
              <a:t>- n = sample(names)</a:t>
            </a:r>
            <a:endParaRPr lang="en-US" sz="1400" dirty="0"/>
          </a:p>
          <a:p>
            <a:pPr marL="0" indent="0">
              <a:lnSpc>
                <a:spcPct val="105000"/>
              </a:lnSpc>
              <a:buNone/>
            </a:pPr>
            <a:r>
              <a:rPr lang="en-US" sz="1400" dirty="0">
                <a:solidFill>
                  <a:schemeClr val="bg1"/>
                </a:solidFill>
                <a:latin typeface="Courier New" pitchFamily="34" charset="0"/>
                <a:ea typeface="Courier New" pitchFamily="34" charset="-122"/>
                <a:cs typeface="Courier New" pitchFamily="34" charset="-120"/>
              </a:rPr>
              <a:t>- $x = range(10, 500, 10)</a:t>
            </a:r>
            <a:endParaRPr lang="en-US" sz="1400" dirty="0"/>
          </a:p>
          <a:p>
            <a:pPr marL="0" indent="0">
              <a:lnSpc>
                <a:spcPct val="105000"/>
              </a:lnSpc>
              <a:buNone/>
            </a:pPr>
            <a:r>
              <a:rPr lang="en-US" sz="1400" dirty="0">
                <a:solidFill>
                  <a:schemeClr val="bg1"/>
                </a:solidFill>
                <a:latin typeface="Courier New" pitchFamily="34" charset="0"/>
                <a:ea typeface="Courier New" pitchFamily="34" charset="-122"/>
                <a:cs typeface="Courier New" pitchFamily="34" charset="-120"/>
              </a:rPr>
              <a:t>- $k = range(2, 10)</a:t>
            </a:r>
            <a:endParaRPr lang="en-US" sz="1400" dirty="0"/>
          </a:p>
          <a:p>
            <a:pPr marL="0" indent="0">
              <a:lnSpc>
                <a:spcPct val="105000"/>
              </a:lnSpc>
              <a:buNone/>
            </a:pPr>
            <a:r>
              <a:rPr lang="en-US" sz="1400" dirty="0">
                <a:solidFill>
                  <a:schemeClr val="accent4"/>
                </a:solidFill>
                <a:latin typeface="Courier New" pitchFamily="34" charset="0"/>
                <a:ea typeface="Courier New" pitchFamily="34" charset="-122"/>
                <a:cs typeface="Courier New" pitchFamily="34" charset="-120"/>
              </a:rPr>
              <a:t>#conditions:</a:t>
            </a:r>
            <a:endParaRPr lang="en-US" sz="1400" dirty="0"/>
          </a:p>
          <a:p>
            <a:pPr marL="0" indent="0">
              <a:lnSpc>
                <a:spcPct val="105000"/>
              </a:lnSpc>
              <a:buNone/>
            </a:pPr>
            <a:r>
              <a:rPr lang="en-US" sz="1400" dirty="0">
                <a:solidFill>
                  <a:schemeClr val="bg1"/>
                </a:solidFill>
                <a:latin typeface="Courier New" pitchFamily="34" charset="0"/>
                <a:ea typeface="Courier New" pitchFamily="34" charset="-122"/>
                <a:cs typeface="Courier New" pitchFamily="34" charset="-120"/>
              </a:rPr>
              <a:t>- divides(x * 12, k * y)</a:t>
            </a:r>
            <a:endParaRPr lang="en-US" sz="1400" dirty="0"/>
          </a:p>
          <a:p>
            <a:pPr marL="0" indent="0">
              <a:lnSpc>
                <a:spcPct val="105000"/>
              </a:lnSpc>
              <a:buNone/>
            </a:pPr>
            <a:r>
              <a:rPr lang="en-US" sz="1400" dirty="0">
                <a:solidFill>
                  <a:schemeClr val="accent4"/>
                </a:solidFill>
                <a:latin typeface="Courier New" pitchFamily="34" charset="0"/>
                <a:ea typeface="Courier New" pitchFamily="34" charset="-122"/>
                <a:cs typeface="Courier New" pitchFamily="34" charset="-120"/>
              </a:rPr>
              <a:t>#answer: </a:t>
            </a:r>
            <a:r>
              <a:rPr lang="en-US" sz="1400" dirty="0">
                <a:solidFill>
                  <a:schemeClr val="bg1"/>
                </a:solidFill>
                <a:latin typeface="Courier New" pitchFamily="34" charset="0"/>
                <a:ea typeface="Courier New" pitchFamily="34" charset="-122"/>
                <a:cs typeface="Courier New" pitchFamily="34" charset="-120"/>
              </a:rPr>
              <a:t>int(k*y / (x*12) * 100)</a:t>
            </a:r>
            <a:endParaRPr lang="en-US" sz="1400" dirty="0"/>
          </a:p>
        </p:txBody>
      </p:sp>
      <p:sp>
        <p:nvSpPr>
          <p:cNvPr id="9" name="Text 7"/>
          <p:cNvSpPr txBox="1"/>
          <p:nvPr/>
        </p:nvSpPr>
        <p:spPr>
          <a:xfrm>
            <a:off x="548640" y="4937760"/>
            <a:ext cx="3566160" cy="822960"/>
          </a:xfrm>
          <a:prstGeom prst="rect">
            <a:avLst/>
          </a:prstGeom>
          <a:noFill/>
          <a:ln/>
        </p:spPr>
        <p:txBody>
          <a:bodyPr wrap="square" lIns="0" tIns="0" rIns="0" bIns="0" rtlCol="0" anchor="t"/>
          <a:lstStyle/>
          <a:p>
            <a:pPr marL="0" indent="0">
              <a:buNone/>
            </a:pPr>
            <a:r>
              <a:rPr lang="en-US" sz="1800" b="1" dirty="0">
                <a:solidFill>
                  <a:schemeClr val="accent1"/>
                </a:solidFill>
              </a:rPr>
              <a:t>Slots</a:t>
            </a:r>
            <a:endParaRPr lang="en-US" sz="1800" dirty="0"/>
          </a:p>
          <a:p>
            <a:pPr marL="0" indent="0">
              <a:buNone/>
            </a:pPr>
            <a:r>
              <a:rPr lang="en-US" sz="1800" dirty="0">
                <a:solidFill>
                  <a:schemeClr val="tx1"/>
                </a:solidFill>
              </a:rPr>
              <a:t>names &amp; numbers become variables</a:t>
            </a:r>
            <a:endParaRPr lang="en-US" sz="1800" dirty="0"/>
          </a:p>
        </p:txBody>
      </p:sp>
      <p:sp>
        <p:nvSpPr>
          <p:cNvPr id="10" name="Text 8"/>
          <p:cNvSpPr txBox="1"/>
          <p:nvPr/>
        </p:nvSpPr>
        <p:spPr>
          <a:xfrm>
            <a:off x="4311396" y="4937760"/>
            <a:ext cx="3566160" cy="822960"/>
          </a:xfrm>
          <a:prstGeom prst="rect">
            <a:avLst/>
          </a:prstGeom>
          <a:noFill/>
          <a:ln/>
        </p:spPr>
        <p:txBody>
          <a:bodyPr wrap="square" lIns="0" tIns="0" rIns="0" bIns="0" rtlCol="0" anchor="t"/>
          <a:lstStyle/>
          <a:p>
            <a:pPr marL="0" indent="0">
              <a:buNone/>
            </a:pPr>
            <a:r>
              <a:rPr lang="en-US" sz="1800" b="1" dirty="0">
                <a:solidFill>
                  <a:schemeClr val="accent1"/>
                </a:solidFill>
              </a:rPr>
              <a:t>Conditions</a:t>
            </a:r>
            <a:endParaRPr lang="en-US" sz="1800" dirty="0"/>
          </a:p>
          <a:p>
            <a:pPr marL="0" indent="0">
              <a:buNone/>
            </a:pPr>
            <a:r>
              <a:rPr lang="en-US" sz="1800" dirty="0">
                <a:solidFill>
                  <a:schemeClr val="tx1"/>
                </a:solidFill>
              </a:rPr>
              <a:t>keep every sample valid</a:t>
            </a:r>
            <a:endParaRPr lang="en-US" sz="1800" dirty="0"/>
          </a:p>
        </p:txBody>
      </p:sp>
      <p:sp>
        <p:nvSpPr>
          <p:cNvPr id="11" name="Text 9"/>
          <p:cNvSpPr txBox="1"/>
          <p:nvPr/>
        </p:nvSpPr>
        <p:spPr>
          <a:xfrm>
            <a:off x="8074152" y="4937760"/>
            <a:ext cx="3566160" cy="822960"/>
          </a:xfrm>
          <a:prstGeom prst="rect">
            <a:avLst/>
          </a:prstGeom>
          <a:noFill/>
          <a:ln/>
        </p:spPr>
        <p:txBody>
          <a:bodyPr wrap="square" lIns="0" tIns="0" rIns="0" bIns="0" rtlCol="0" anchor="t"/>
          <a:lstStyle/>
          <a:p>
            <a:pPr marL="0" indent="0">
              <a:buNone/>
            </a:pPr>
            <a:r>
              <a:rPr lang="en-US" sz="1800" b="1" dirty="0">
                <a:solidFill>
                  <a:schemeClr val="accent1"/>
                </a:solidFill>
              </a:rPr>
              <a:t>Answer formula</a:t>
            </a:r>
            <a:endParaRPr lang="en-US" sz="1800" dirty="0"/>
          </a:p>
          <a:p>
            <a:pPr marL="0" indent="0">
              <a:buNone/>
            </a:pPr>
            <a:r>
              <a:rPr lang="en-US" sz="1800" dirty="0">
                <a:solidFill>
                  <a:schemeClr val="tx1"/>
                </a:solidFill>
              </a:rPr>
              <a:t>gold label for free</a:t>
            </a:r>
            <a:endParaRPr lang="en-US" sz="18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What the paper contributes</a:t>
            </a:r>
            <a:endParaRPr lang="en-US" sz="3600" dirty="0"/>
          </a:p>
        </p:txBody>
      </p:sp>
      <p:sp>
        <p:nvSpPr>
          <p:cNvPr id="3" name="num 1"/>
          <p:cNvSpPr/>
          <p:nvPr/>
        </p:nvSpPr>
        <p:spPr>
          <a:xfrm>
            <a:off x="548640" y="1417320"/>
            <a:ext cx="658368" cy="658368"/>
          </a:xfrm>
          <a:prstGeom prst="ellipse">
            <a:avLst/>
          </a:prstGeom>
          <a:solidFill>
            <a:schemeClr val="accent1"/>
          </a:solidFill>
          <a:ln/>
        </p:spPr>
      </p:sp>
      <p:sp>
        <p:nvSpPr>
          <p:cNvPr id="4" name="Text 2"/>
          <p:cNvSpPr txBox="1"/>
          <p:nvPr/>
        </p:nvSpPr>
        <p:spPr>
          <a:xfrm>
            <a:off x="548640" y="1417320"/>
            <a:ext cx="658368" cy="658368"/>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1417320" y="1380744"/>
            <a:ext cx="6309360" cy="777240"/>
          </a:xfrm>
          <a:prstGeom prst="rect">
            <a:avLst/>
          </a:prstGeom>
          <a:noFill/>
          <a:ln/>
        </p:spPr>
        <p:txBody>
          <a:bodyPr wrap="square" lIns="0" tIns="0" rIns="0" bIns="0" rtlCol="0" anchor="t"/>
          <a:lstStyle/>
          <a:p>
            <a:pPr marL="0" indent="0">
              <a:buNone/>
            </a:pPr>
            <a:r>
              <a:rPr lang="en-US" sz="1800" b="1" dirty="0">
                <a:solidFill>
                  <a:schemeClr val="tx2"/>
                </a:solidFill>
              </a:rPr>
              <a:t>GSM-Symbolic</a:t>
            </a:r>
            <a:endParaRPr lang="en-US" sz="1800" dirty="0"/>
          </a:p>
          <a:p>
            <a:pPr marL="0" indent="0">
              <a:buNone/>
            </a:pPr>
            <a:r>
              <a:rPr lang="en-US" sz="1500" dirty="0">
                <a:solidFill>
                  <a:schemeClr val="tx1"/>
                </a:solidFill>
              </a:rPr>
              <a:t>100 templates generate unlimited fresh, contamination-free variants</a:t>
            </a:r>
            <a:endParaRPr lang="en-US" sz="1800" dirty="0"/>
          </a:p>
        </p:txBody>
      </p:sp>
      <p:sp>
        <p:nvSpPr>
          <p:cNvPr id="6" name="num 2"/>
          <p:cNvSpPr/>
          <p:nvPr/>
        </p:nvSpPr>
        <p:spPr>
          <a:xfrm>
            <a:off x="548640" y="2359152"/>
            <a:ext cx="658368" cy="658368"/>
          </a:xfrm>
          <a:prstGeom prst="ellipse">
            <a:avLst/>
          </a:prstGeom>
          <a:solidFill>
            <a:schemeClr val="accent1"/>
          </a:solidFill>
          <a:ln/>
        </p:spPr>
      </p:sp>
      <p:sp>
        <p:nvSpPr>
          <p:cNvPr id="7" name="Text 5"/>
          <p:cNvSpPr txBox="1"/>
          <p:nvPr/>
        </p:nvSpPr>
        <p:spPr>
          <a:xfrm>
            <a:off x="548640" y="2359152"/>
            <a:ext cx="658368" cy="658368"/>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2</a:t>
            </a:r>
            <a:endParaRPr lang="en-US" sz="2200" dirty="0"/>
          </a:p>
        </p:txBody>
      </p:sp>
      <p:sp>
        <p:nvSpPr>
          <p:cNvPr id="8" name="Text 6"/>
          <p:cNvSpPr txBox="1"/>
          <p:nvPr/>
        </p:nvSpPr>
        <p:spPr>
          <a:xfrm>
            <a:off x="1417320" y="2322576"/>
            <a:ext cx="6309360" cy="777240"/>
          </a:xfrm>
          <a:prstGeom prst="rect">
            <a:avLst/>
          </a:prstGeom>
          <a:noFill/>
          <a:ln/>
        </p:spPr>
        <p:txBody>
          <a:bodyPr wrap="square" lIns="0" tIns="0" rIns="0" bIns="0" rtlCol="0" anchor="t"/>
          <a:lstStyle/>
          <a:p>
            <a:pPr marL="0" indent="0">
              <a:buNone/>
            </a:pPr>
            <a:r>
              <a:rPr lang="en-US" sz="1800" b="1" dirty="0">
                <a:solidFill>
                  <a:schemeClr val="tx2"/>
                </a:solidFill>
              </a:rPr>
              <a:t>Accuracy as a distribution</a:t>
            </a:r>
            <a:endParaRPr lang="en-US" sz="1800" dirty="0"/>
          </a:p>
          <a:p>
            <a:pPr marL="0" indent="0">
              <a:buNone/>
            </a:pPr>
            <a:r>
              <a:rPr lang="en-US" sz="1500" dirty="0">
                <a:solidFill>
                  <a:schemeClr val="tx1"/>
                </a:solidFill>
              </a:rPr>
              <a:t>50 sampled datasets: accuracy is lower than GSM8K and varies</a:t>
            </a:r>
            <a:endParaRPr lang="en-US" sz="1800" dirty="0"/>
          </a:p>
        </p:txBody>
      </p:sp>
      <p:sp>
        <p:nvSpPr>
          <p:cNvPr id="9" name="num 3"/>
          <p:cNvSpPr/>
          <p:nvPr/>
        </p:nvSpPr>
        <p:spPr>
          <a:xfrm>
            <a:off x="548640" y="3300984"/>
            <a:ext cx="658368" cy="658368"/>
          </a:xfrm>
          <a:prstGeom prst="ellipse">
            <a:avLst/>
          </a:prstGeom>
          <a:solidFill>
            <a:schemeClr val="accent1"/>
          </a:solidFill>
          <a:ln/>
        </p:spPr>
      </p:sp>
      <p:sp>
        <p:nvSpPr>
          <p:cNvPr id="10" name="Text 8"/>
          <p:cNvSpPr txBox="1"/>
          <p:nvPr/>
        </p:nvSpPr>
        <p:spPr>
          <a:xfrm>
            <a:off x="548640" y="3300984"/>
            <a:ext cx="658368" cy="658368"/>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3</a:t>
            </a:r>
            <a:endParaRPr lang="en-US" sz="2200" dirty="0"/>
          </a:p>
        </p:txBody>
      </p:sp>
      <p:sp>
        <p:nvSpPr>
          <p:cNvPr id="11" name="Text 9"/>
          <p:cNvSpPr txBox="1"/>
          <p:nvPr/>
        </p:nvSpPr>
        <p:spPr>
          <a:xfrm>
            <a:off x="1417320" y="3264408"/>
            <a:ext cx="6309360" cy="777240"/>
          </a:xfrm>
          <a:prstGeom prst="rect">
            <a:avLst/>
          </a:prstGeom>
          <a:noFill/>
          <a:ln/>
        </p:spPr>
        <p:txBody>
          <a:bodyPr wrap="square" lIns="0" tIns="0" rIns="0" bIns="0" rtlCol="0" anchor="t"/>
          <a:lstStyle/>
          <a:p>
            <a:pPr marL="0" indent="0">
              <a:buNone/>
            </a:pPr>
            <a:r>
              <a:rPr lang="en-US" sz="1800" b="1" dirty="0">
                <a:solidFill>
                  <a:schemeClr val="tx2"/>
                </a:solidFill>
              </a:rPr>
              <a:t>Names vs numbers</a:t>
            </a:r>
            <a:endParaRPr lang="en-US" sz="1800" dirty="0"/>
          </a:p>
          <a:p>
            <a:pPr marL="0" indent="0">
              <a:buNone/>
            </a:pPr>
            <a:r>
              <a:rPr lang="en-US" sz="1500" dirty="0">
                <a:solidFill>
                  <a:schemeClr val="tx1"/>
                </a:solidFill>
              </a:rPr>
              <a:t>changing names hurts a little, changing numbers hurts more</a:t>
            </a:r>
            <a:endParaRPr lang="en-US" sz="1800" dirty="0"/>
          </a:p>
        </p:txBody>
      </p:sp>
      <p:sp>
        <p:nvSpPr>
          <p:cNvPr id="12" name="num 4"/>
          <p:cNvSpPr/>
          <p:nvPr/>
        </p:nvSpPr>
        <p:spPr>
          <a:xfrm>
            <a:off x="548640" y="4242816"/>
            <a:ext cx="658368" cy="658368"/>
          </a:xfrm>
          <a:prstGeom prst="ellipse">
            <a:avLst/>
          </a:prstGeom>
          <a:solidFill>
            <a:schemeClr val="accent1"/>
          </a:solidFill>
          <a:ln/>
        </p:spPr>
      </p:sp>
      <p:sp>
        <p:nvSpPr>
          <p:cNvPr id="13" name="Text 11"/>
          <p:cNvSpPr txBox="1"/>
          <p:nvPr/>
        </p:nvSpPr>
        <p:spPr>
          <a:xfrm>
            <a:off x="548640" y="4242816"/>
            <a:ext cx="658368" cy="658368"/>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4</a:t>
            </a:r>
            <a:endParaRPr lang="en-US" sz="2200" dirty="0"/>
          </a:p>
        </p:txBody>
      </p:sp>
      <p:sp>
        <p:nvSpPr>
          <p:cNvPr id="14" name="Text 12"/>
          <p:cNvSpPr txBox="1"/>
          <p:nvPr/>
        </p:nvSpPr>
        <p:spPr>
          <a:xfrm>
            <a:off x="1417320" y="4206240"/>
            <a:ext cx="6309360" cy="777240"/>
          </a:xfrm>
          <a:prstGeom prst="rect">
            <a:avLst/>
          </a:prstGeom>
          <a:noFill/>
          <a:ln/>
        </p:spPr>
        <p:txBody>
          <a:bodyPr wrap="square" lIns="0" tIns="0" rIns="0" bIns="0" rtlCol="0" anchor="t"/>
          <a:lstStyle/>
          <a:p>
            <a:pPr marL="0" indent="0">
              <a:buNone/>
            </a:pPr>
            <a:r>
              <a:rPr lang="en-US" sz="1800" b="1" dirty="0">
                <a:solidFill>
                  <a:schemeClr val="tx2"/>
                </a:solidFill>
              </a:rPr>
              <a:t>GSM-P1 / P2</a:t>
            </a:r>
            <a:endParaRPr lang="en-US" sz="1800" dirty="0"/>
          </a:p>
          <a:p>
            <a:pPr marL="0" indent="0">
              <a:buNone/>
            </a:pPr>
            <a:r>
              <a:rPr lang="en-US" sz="1500" dirty="0">
                <a:solidFill>
                  <a:schemeClr val="tx1"/>
                </a:solidFill>
              </a:rPr>
              <a:t>+1 / +2 clauses: accuracy falls and variance grows</a:t>
            </a:r>
            <a:endParaRPr lang="en-US" sz="1800" dirty="0"/>
          </a:p>
        </p:txBody>
      </p:sp>
      <p:sp>
        <p:nvSpPr>
          <p:cNvPr id="15" name="num 5"/>
          <p:cNvSpPr/>
          <p:nvPr/>
        </p:nvSpPr>
        <p:spPr>
          <a:xfrm>
            <a:off x="548640" y="5184648"/>
            <a:ext cx="658368" cy="658368"/>
          </a:xfrm>
          <a:prstGeom prst="ellipse">
            <a:avLst/>
          </a:prstGeom>
          <a:solidFill>
            <a:schemeClr val="accent3"/>
          </a:solidFill>
          <a:ln/>
        </p:spPr>
      </p:sp>
      <p:sp>
        <p:nvSpPr>
          <p:cNvPr id="16" name="Text 14"/>
          <p:cNvSpPr txBox="1"/>
          <p:nvPr/>
        </p:nvSpPr>
        <p:spPr>
          <a:xfrm>
            <a:off x="548640" y="5184648"/>
            <a:ext cx="658368" cy="658368"/>
          </a:xfrm>
          <a:prstGeom prst="rect">
            <a:avLst/>
          </a:prstGeom>
          <a:noFill/>
          <a:ln/>
        </p:spPr>
        <p:txBody>
          <a:bodyPr wrap="square" lIns="0" tIns="0" rIns="0" bIns="0" rtlCol="0" anchor="ctr"/>
          <a:lstStyle/>
          <a:p>
            <a:pPr marL="0" indent="0" algn="ctr">
              <a:buNone/>
            </a:pPr>
            <a:r>
              <a:rPr lang="en-US" sz="2200" b="1" dirty="0">
                <a:solidFill>
                  <a:schemeClr val="bg1"/>
                </a:solidFill>
                <a:latin typeface="Cambria" pitchFamily="34" charset="0"/>
                <a:ea typeface="Cambria" pitchFamily="34" charset="-122"/>
                <a:cs typeface="Cambria" pitchFamily="34" charset="-120"/>
              </a:rPr>
              <a:t>5</a:t>
            </a:r>
            <a:endParaRPr lang="en-US" sz="2200" dirty="0"/>
          </a:p>
        </p:txBody>
      </p:sp>
      <p:sp>
        <p:nvSpPr>
          <p:cNvPr id="17" name="Text 15"/>
          <p:cNvSpPr txBox="1"/>
          <p:nvPr/>
        </p:nvSpPr>
        <p:spPr>
          <a:xfrm>
            <a:off x="1417320" y="5148072"/>
            <a:ext cx="6309360" cy="777240"/>
          </a:xfrm>
          <a:prstGeom prst="rect">
            <a:avLst/>
          </a:prstGeom>
          <a:noFill/>
          <a:ln/>
        </p:spPr>
        <p:txBody>
          <a:bodyPr wrap="square" lIns="0" tIns="0" rIns="0" bIns="0" rtlCol="0" anchor="t"/>
          <a:lstStyle/>
          <a:p>
            <a:pPr marL="0" indent="0">
              <a:buNone/>
            </a:pPr>
            <a:r>
              <a:rPr lang="en-US" sz="1800" b="1" dirty="0">
                <a:solidFill>
                  <a:schemeClr val="tx2"/>
                </a:solidFill>
              </a:rPr>
              <a:t>GSM-NoOp</a:t>
            </a:r>
            <a:endParaRPr lang="en-US" sz="1800" dirty="0"/>
          </a:p>
          <a:p>
            <a:pPr marL="0" indent="0">
              <a:buNone/>
            </a:pPr>
            <a:r>
              <a:rPr lang="en-US" sz="1500" dirty="0">
                <a:solidFill>
                  <a:schemeClr val="tx1"/>
                </a:solidFill>
              </a:rPr>
              <a:t>one irrelevant clause: drops of up to 65%</a:t>
            </a:r>
            <a:endParaRPr lang="en-US" sz="1800" dirty="0"/>
          </a:p>
        </p:txBody>
      </p:sp>
      <p:sp>
        <p:nvSpPr>
          <p:cNvPr id="18" name="conclusion card"/>
          <p:cNvSpPr/>
          <p:nvPr/>
        </p:nvSpPr>
        <p:spPr>
          <a:xfrm>
            <a:off x="8001000" y="1417320"/>
            <a:ext cx="3639312" cy="4434840"/>
          </a:xfrm>
          <a:prstGeom prst="roundRect">
            <a:avLst>
              <a:gd name="adj" fmla="val 3015"/>
            </a:avLst>
          </a:prstGeom>
          <a:solidFill>
            <a:schemeClr val="tx2"/>
          </a:solidFill>
          <a:ln/>
        </p:spPr>
      </p:sp>
      <p:sp>
        <p:nvSpPr>
          <p:cNvPr id="19" name="Text 17"/>
          <p:cNvSpPr txBox="1"/>
          <p:nvPr/>
        </p:nvSpPr>
        <p:spPr>
          <a:xfrm>
            <a:off x="8321040" y="1554480"/>
            <a:ext cx="914400" cy="822960"/>
          </a:xfrm>
          <a:prstGeom prst="rect">
            <a:avLst/>
          </a:prstGeom>
          <a:noFill/>
          <a:ln/>
        </p:spPr>
        <p:txBody>
          <a:bodyPr wrap="square" lIns="0" tIns="0" rIns="0" bIns="0" rtlCol="0" anchor="t"/>
          <a:lstStyle/>
          <a:p>
            <a:pPr marL="0" indent="0">
              <a:buNone/>
            </a:pPr>
            <a:r>
              <a:rPr lang="en-US" sz="7200" b="1" dirty="0">
                <a:solidFill>
                  <a:schemeClr val="accent2"/>
                </a:solidFill>
                <a:latin typeface="Cambria" pitchFamily="34" charset="0"/>
                <a:ea typeface="Cambria" pitchFamily="34" charset="-122"/>
                <a:cs typeface="Cambria" pitchFamily="34" charset="-120"/>
              </a:rPr>
              <a:t>“</a:t>
            </a:r>
            <a:endParaRPr lang="en-US" sz="7200" dirty="0"/>
          </a:p>
        </p:txBody>
      </p:sp>
      <p:sp>
        <p:nvSpPr>
          <p:cNvPr id="20" name="Text 18"/>
          <p:cNvSpPr txBox="1"/>
          <p:nvPr/>
        </p:nvSpPr>
        <p:spPr>
          <a:xfrm>
            <a:off x="8321040" y="2423160"/>
            <a:ext cx="3017520" cy="2011680"/>
          </a:xfrm>
          <a:prstGeom prst="rect">
            <a:avLst/>
          </a:prstGeom>
          <a:noFill/>
          <a:ln/>
        </p:spPr>
        <p:txBody>
          <a:bodyPr wrap="square" lIns="0" tIns="0" rIns="0" bIns="0" rtlCol="0" anchor="t"/>
          <a:lstStyle/>
          <a:p>
            <a:pPr marL="0" indent="0">
              <a:buNone/>
            </a:pPr>
            <a:r>
              <a:rPr lang="en-US" sz="2400" i="1" dirty="0">
                <a:solidFill>
                  <a:schemeClr val="bg1"/>
                </a:solidFill>
                <a:latin typeface="Cambria" pitchFamily="34" charset="0"/>
                <a:ea typeface="Cambria" pitchFamily="34" charset="-122"/>
                <a:cs typeface="Cambria" pitchFamily="34" charset="-120"/>
              </a:rPr>
              <a:t>LLMs look more like pattern-matchers than formal reasoners.</a:t>
            </a:r>
            <a:endParaRPr lang="en-US" sz="2400" dirty="0"/>
          </a:p>
        </p:txBody>
      </p:sp>
      <p:sp>
        <p:nvSpPr>
          <p:cNvPr id="21" name="Text 19"/>
          <p:cNvSpPr txBox="1"/>
          <p:nvPr/>
        </p:nvSpPr>
        <p:spPr>
          <a:xfrm>
            <a:off x="8321040" y="5120640"/>
            <a:ext cx="3017520" cy="365760"/>
          </a:xfrm>
          <a:prstGeom prst="rect">
            <a:avLst/>
          </a:prstGeom>
          <a:noFill/>
          <a:ln/>
        </p:spPr>
        <p:txBody>
          <a:bodyPr wrap="square" lIns="0" tIns="0" rIns="0" bIns="0" rtlCol="0" anchor="t"/>
          <a:lstStyle/>
          <a:p>
            <a:pPr marL="0" indent="0">
              <a:buNone/>
            </a:pPr>
            <a:r>
              <a:rPr lang="en-US" sz="1400" dirty="0">
                <a:solidFill>
                  <a:schemeClr val="accent6"/>
                </a:solidFill>
              </a:rPr>
              <a:t>The paper's conclusion</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Harder variants add one clause at a time</a:t>
            </a:r>
            <a:endParaRPr lang="en-US" sz="3600" dirty="0"/>
          </a:p>
        </p:txBody>
      </p:sp>
      <p:sp>
        <p:nvSpPr>
          <p:cNvPr id="3" name="Symbolic card"/>
          <p:cNvSpPr/>
          <p:nvPr/>
        </p:nvSpPr>
        <p:spPr>
          <a:xfrm>
            <a:off x="548640" y="1371600"/>
            <a:ext cx="11094415" cy="1417320"/>
          </a:xfrm>
          <a:prstGeom prst="roundRect">
            <a:avLst>
              <a:gd name="adj" fmla="val 7742"/>
            </a:avLst>
          </a:prstGeom>
          <a:solidFill>
            <a:schemeClr val="bg2"/>
          </a:solidFill>
          <a:ln/>
        </p:spPr>
      </p:sp>
      <p:sp>
        <p:nvSpPr>
          <p:cNvPr id="4" name="Symbolic label"/>
          <p:cNvSpPr/>
          <p:nvPr/>
        </p:nvSpPr>
        <p:spPr>
          <a:xfrm>
            <a:off x="777240" y="1645920"/>
            <a:ext cx="1554480" cy="868680"/>
          </a:xfrm>
          <a:prstGeom prst="roundRect">
            <a:avLst>
              <a:gd name="adj" fmla="val 10526"/>
            </a:avLst>
          </a:prstGeom>
          <a:solidFill>
            <a:schemeClr val="accent4"/>
          </a:solidFill>
          <a:ln/>
        </p:spPr>
      </p:sp>
      <p:sp>
        <p:nvSpPr>
          <p:cNvPr id="5" name="Text 3"/>
          <p:cNvSpPr txBox="1"/>
          <p:nvPr/>
        </p:nvSpPr>
        <p:spPr>
          <a:xfrm>
            <a:off x="777240" y="1645920"/>
            <a:ext cx="1554480" cy="868680"/>
          </a:xfrm>
          <a:prstGeom prst="rect">
            <a:avLst/>
          </a:prstGeom>
          <a:noFill/>
          <a:ln/>
        </p:spPr>
        <p:txBody>
          <a:bodyPr wrap="square" lIns="0" tIns="0" rIns="0" bIns="0" rtlCol="0" anchor="ctr"/>
          <a:lstStyle/>
          <a:p>
            <a:pPr marL="0" indent="0" algn="ctr">
              <a:buNone/>
            </a:pPr>
            <a:r>
              <a:rPr lang="en-US" sz="2000" b="1" dirty="0">
                <a:solidFill>
                  <a:schemeClr val="bg1"/>
                </a:solidFill>
              </a:rPr>
              <a:t>Symbolic</a:t>
            </a:r>
            <a:endParaRPr lang="en-US" sz="2000" dirty="0"/>
          </a:p>
          <a:p>
            <a:pPr marL="0" indent="0" algn="ctr">
              <a:buNone/>
            </a:pPr>
            <a:r>
              <a:rPr lang="en-US" sz="1300" dirty="0">
                <a:solidFill>
                  <a:schemeClr val="bg1"/>
                </a:solidFill>
              </a:rPr>
              <a:t>base question</a:t>
            </a:r>
            <a:endParaRPr lang="en-US" sz="2000" dirty="0"/>
          </a:p>
        </p:txBody>
      </p:sp>
      <p:sp>
        <p:nvSpPr>
          <p:cNvPr id="6" name="Text 4"/>
          <p:cNvSpPr txBox="1"/>
          <p:nvPr/>
        </p:nvSpPr>
        <p:spPr>
          <a:xfrm>
            <a:off x="2606040" y="1536192"/>
            <a:ext cx="8762695" cy="1097280"/>
          </a:xfrm>
          <a:prstGeom prst="rect">
            <a:avLst/>
          </a:prstGeom>
          <a:noFill/>
          <a:ln/>
        </p:spPr>
        <p:txBody>
          <a:bodyPr wrap="square" lIns="0" tIns="0" rIns="0" bIns="0" rtlCol="0" anchor="ctr"/>
          <a:lstStyle/>
          <a:p>
            <a:pPr marL="0" indent="0">
              <a:buNone/>
            </a:pPr>
            <a:r>
              <a:rPr lang="en-US" sz="1500" dirty="0">
                <a:solidFill>
                  <a:schemeClr val="tx1"/>
                </a:solidFill>
              </a:rPr>
              <a:t>A group of 171 students has various hobbies. 140 like to read, 4 like to play basketball, and the rest like to either play music or play video games. How many like to play music if the number that like to play video games is twice the number that prefer playing basketball?</a:t>
            </a:r>
            <a:endParaRPr lang="en-US" sz="1500" dirty="0"/>
          </a:p>
        </p:txBody>
      </p:sp>
      <p:sp>
        <p:nvSpPr>
          <p:cNvPr id="7" name="P1 card"/>
          <p:cNvSpPr/>
          <p:nvPr/>
        </p:nvSpPr>
        <p:spPr>
          <a:xfrm>
            <a:off x="548640" y="2971800"/>
            <a:ext cx="11094415" cy="1417320"/>
          </a:xfrm>
          <a:prstGeom prst="roundRect">
            <a:avLst>
              <a:gd name="adj" fmla="val 7742"/>
            </a:avLst>
          </a:prstGeom>
          <a:solidFill>
            <a:schemeClr val="bg2"/>
          </a:solidFill>
          <a:ln/>
        </p:spPr>
      </p:sp>
      <p:sp>
        <p:nvSpPr>
          <p:cNvPr id="8" name="P1 label"/>
          <p:cNvSpPr/>
          <p:nvPr/>
        </p:nvSpPr>
        <p:spPr>
          <a:xfrm>
            <a:off x="777240" y="3246120"/>
            <a:ext cx="1554480" cy="868680"/>
          </a:xfrm>
          <a:prstGeom prst="roundRect">
            <a:avLst>
              <a:gd name="adj" fmla="val 10526"/>
            </a:avLst>
          </a:prstGeom>
          <a:solidFill>
            <a:schemeClr val="accent2"/>
          </a:solidFill>
          <a:ln/>
        </p:spPr>
      </p:sp>
      <p:sp>
        <p:nvSpPr>
          <p:cNvPr id="9" name="Text 7"/>
          <p:cNvSpPr txBox="1"/>
          <p:nvPr/>
        </p:nvSpPr>
        <p:spPr>
          <a:xfrm>
            <a:off x="777240" y="3246120"/>
            <a:ext cx="1554480" cy="868680"/>
          </a:xfrm>
          <a:prstGeom prst="rect">
            <a:avLst/>
          </a:prstGeom>
          <a:noFill/>
          <a:ln/>
        </p:spPr>
        <p:txBody>
          <a:bodyPr wrap="square" lIns="0" tIns="0" rIns="0" bIns="0" rtlCol="0" anchor="ctr"/>
          <a:lstStyle/>
          <a:p>
            <a:pPr marL="0" indent="0" algn="ctr">
              <a:buNone/>
            </a:pPr>
            <a:r>
              <a:rPr lang="en-US" sz="2000" b="1" dirty="0">
                <a:solidFill>
                  <a:schemeClr val="bg1"/>
                </a:solidFill>
              </a:rPr>
              <a:t>P1</a:t>
            </a:r>
            <a:endParaRPr lang="en-US" sz="2000" dirty="0"/>
          </a:p>
          <a:p>
            <a:pPr marL="0" indent="0" algn="ctr">
              <a:buNone/>
            </a:pPr>
            <a:r>
              <a:rPr lang="en-US" sz="1300" dirty="0">
                <a:solidFill>
                  <a:schemeClr val="bg1"/>
                </a:solidFill>
              </a:rPr>
              <a:t>+1 clause</a:t>
            </a:r>
            <a:endParaRPr lang="en-US" sz="2000" dirty="0"/>
          </a:p>
        </p:txBody>
      </p:sp>
      <p:sp>
        <p:nvSpPr>
          <p:cNvPr id="10" name="Text 8"/>
          <p:cNvSpPr txBox="1"/>
          <p:nvPr/>
        </p:nvSpPr>
        <p:spPr>
          <a:xfrm>
            <a:off x="2606040" y="3136392"/>
            <a:ext cx="8762695" cy="1097280"/>
          </a:xfrm>
          <a:prstGeom prst="rect">
            <a:avLst/>
          </a:prstGeom>
          <a:noFill/>
          <a:ln/>
        </p:spPr>
        <p:txBody>
          <a:bodyPr wrap="square" lIns="0" tIns="0" rIns="0" bIns="0" rtlCol="0" anchor="ctr"/>
          <a:lstStyle/>
          <a:p>
            <a:pPr marL="0" indent="0">
              <a:buNone/>
            </a:pPr>
            <a:r>
              <a:rPr lang="en-US" sz="1500" dirty="0">
                <a:solidFill>
                  <a:schemeClr val="tx1"/>
                </a:solidFill>
              </a:rPr>
              <a:t>A class of 170 students has various hobbies. 56 like to read, 1 like to play tennis, and the rest like to either dance or play music. How many like to dance if the number that like to play music is </a:t>
            </a:r>
            <a:r>
              <a:rPr lang="en-US" sz="1500" b="1" dirty="0">
                <a:solidFill>
                  <a:schemeClr val="accent3"/>
                </a:solidFill>
              </a:rPr>
              <a:t>4 less than four times</a:t>
            </a:r>
            <a:r>
              <a:rPr lang="en-US" sz="1500" dirty="0">
                <a:solidFill>
                  <a:schemeClr val="tx1"/>
                </a:solidFill>
              </a:rPr>
              <a:t> the number that prefer playing tennis?</a:t>
            </a:r>
            <a:endParaRPr lang="en-US" sz="1500" dirty="0"/>
          </a:p>
        </p:txBody>
      </p:sp>
      <p:sp>
        <p:nvSpPr>
          <p:cNvPr id="11" name="P2 card"/>
          <p:cNvSpPr/>
          <p:nvPr/>
        </p:nvSpPr>
        <p:spPr>
          <a:xfrm>
            <a:off x="548640" y="4572000"/>
            <a:ext cx="11094415" cy="1417320"/>
          </a:xfrm>
          <a:prstGeom prst="roundRect">
            <a:avLst>
              <a:gd name="adj" fmla="val 7742"/>
            </a:avLst>
          </a:prstGeom>
          <a:solidFill>
            <a:schemeClr val="bg2"/>
          </a:solidFill>
          <a:ln/>
        </p:spPr>
      </p:sp>
      <p:sp>
        <p:nvSpPr>
          <p:cNvPr id="12" name="P2 label"/>
          <p:cNvSpPr/>
          <p:nvPr/>
        </p:nvSpPr>
        <p:spPr>
          <a:xfrm>
            <a:off x="777240" y="4846320"/>
            <a:ext cx="1554480" cy="868680"/>
          </a:xfrm>
          <a:prstGeom prst="roundRect">
            <a:avLst>
              <a:gd name="adj" fmla="val 10526"/>
            </a:avLst>
          </a:prstGeom>
          <a:solidFill>
            <a:schemeClr val="accent3"/>
          </a:solidFill>
          <a:ln/>
        </p:spPr>
      </p:sp>
      <p:sp>
        <p:nvSpPr>
          <p:cNvPr id="13" name="Text 11"/>
          <p:cNvSpPr txBox="1"/>
          <p:nvPr/>
        </p:nvSpPr>
        <p:spPr>
          <a:xfrm>
            <a:off x="777240" y="4846320"/>
            <a:ext cx="1554480" cy="868680"/>
          </a:xfrm>
          <a:prstGeom prst="rect">
            <a:avLst/>
          </a:prstGeom>
          <a:noFill/>
          <a:ln/>
        </p:spPr>
        <p:txBody>
          <a:bodyPr wrap="square" lIns="0" tIns="0" rIns="0" bIns="0" rtlCol="0" anchor="ctr"/>
          <a:lstStyle/>
          <a:p>
            <a:pPr marL="0" indent="0" algn="ctr">
              <a:buNone/>
            </a:pPr>
            <a:r>
              <a:rPr lang="en-US" sz="2000" b="1" dirty="0">
                <a:solidFill>
                  <a:schemeClr val="bg1"/>
                </a:solidFill>
              </a:rPr>
              <a:t>P2</a:t>
            </a:r>
            <a:endParaRPr lang="en-US" sz="2000" dirty="0"/>
          </a:p>
          <a:p>
            <a:pPr marL="0" indent="0" algn="ctr">
              <a:buNone/>
            </a:pPr>
            <a:r>
              <a:rPr lang="en-US" sz="1300" dirty="0">
                <a:solidFill>
                  <a:schemeClr val="bg1"/>
                </a:solidFill>
              </a:rPr>
              <a:t>+2 clauses</a:t>
            </a:r>
            <a:endParaRPr lang="en-US" sz="2000" dirty="0"/>
          </a:p>
        </p:txBody>
      </p:sp>
      <p:sp>
        <p:nvSpPr>
          <p:cNvPr id="14" name="Text 12"/>
          <p:cNvSpPr txBox="1"/>
          <p:nvPr/>
        </p:nvSpPr>
        <p:spPr>
          <a:xfrm>
            <a:off x="2606040" y="4736592"/>
            <a:ext cx="8762695" cy="1097280"/>
          </a:xfrm>
          <a:prstGeom prst="rect">
            <a:avLst/>
          </a:prstGeom>
          <a:noFill/>
          <a:ln/>
        </p:spPr>
        <p:txBody>
          <a:bodyPr wrap="square" lIns="0" tIns="0" rIns="0" bIns="0" rtlCol="0" anchor="ctr"/>
          <a:lstStyle/>
          <a:p>
            <a:pPr marL="0" indent="0">
              <a:buNone/>
            </a:pPr>
            <a:r>
              <a:rPr lang="en-US" sz="1500" dirty="0">
                <a:solidFill>
                  <a:schemeClr val="tx1"/>
                </a:solidFill>
              </a:rPr>
              <a:t>A group of 50 students has various hobbies. 5 like to read, 8 like to play chess, </a:t>
            </a:r>
            <a:r>
              <a:rPr lang="en-US" sz="1500" b="1" dirty="0">
                <a:solidFill>
                  <a:schemeClr val="accent3"/>
                </a:solidFill>
              </a:rPr>
              <a:t>13 like to swim</a:t>
            </a:r>
            <a:r>
              <a:rPr lang="en-US" sz="1500" dirty="0">
                <a:solidFill>
                  <a:schemeClr val="tx1"/>
                </a:solidFill>
              </a:rPr>
              <a:t>, 3 like to play hockey, and the rest like to either hike or play music. </a:t>
            </a:r>
            <a:r>
              <a:rPr lang="en-US" sz="1500" b="1" dirty="0">
                <a:solidFill>
                  <a:schemeClr val="accent3"/>
                </a:solidFill>
              </a:rPr>
              <a:t>What percentage</a:t>
            </a:r>
            <a:r>
              <a:rPr lang="en-US" sz="1500" dirty="0">
                <a:solidFill>
                  <a:schemeClr val="tx1"/>
                </a:solidFill>
              </a:rPr>
              <a:t> of the students like to hike if the number that like to play music is </a:t>
            </a:r>
            <a:r>
              <a:rPr lang="en-US" sz="1500" b="1" dirty="0">
                <a:solidFill>
                  <a:schemeClr val="accent3"/>
                </a:solidFill>
              </a:rPr>
              <a:t>7 less than four times</a:t>
            </a:r>
            <a:r>
              <a:rPr lang="en-US" sz="1500" dirty="0">
                <a:solidFill>
                  <a:schemeClr val="tx1"/>
                </a:solidFill>
              </a:rPr>
              <a:t> the number that prefer playing hockey?</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Apple shipped templates, not the generator</a:t>
            </a:r>
            <a:endParaRPr lang="en-US" sz="3600" dirty="0"/>
          </a:p>
        </p:txBody>
      </p:sp>
      <p:sp>
        <p:nvSpPr>
          <p:cNvPr id="3" name="released card"/>
          <p:cNvSpPr/>
          <p:nvPr/>
        </p:nvSpPr>
        <p:spPr>
          <a:xfrm>
            <a:off x="548640" y="1417320"/>
            <a:ext cx="4023360" cy="4526280"/>
          </a:xfrm>
          <a:prstGeom prst="roundRect">
            <a:avLst>
              <a:gd name="adj" fmla="val 2727"/>
            </a:avLst>
          </a:prstGeom>
          <a:solidFill>
            <a:schemeClr val="bg2"/>
          </a:solidFill>
          <a:ln/>
        </p:spPr>
      </p:sp>
      <p:sp>
        <p:nvSpPr>
          <p:cNvPr id="4" name="Text 2"/>
          <p:cNvSpPr txBox="1"/>
          <p:nvPr/>
        </p:nvSpPr>
        <p:spPr>
          <a:xfrm>
            <a:off x="914400" y="1691640"/>
            <a:ext cx="329184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RELEASED BY APPLE</a:t>
            </a:r>
            <a:endParaRPr lang="en-US" sz="1200" dirty="0"/>
          </a:p>
        </p:txBody>
      </p:sp>
      <p:sp>
        <p:nvSpPr>
          <p:cNvPr id="5" name="Text 3"/>
          <p:cNvSpPr txBox="1"/>
          <p:nvPr/>
        </p:nvSpPr>
        <p:spPr>
          <a:xfrm>
            <a:off x="914400" y="2057400"/>
            <a:ext cx="3291840" cy="1097280"/>
          </a:xfrm>
          <a:prstGeom prst="rect">
            <a:avLst/>
          </a:prstGeom>
          <a:noFill/>
          <a:ln/>
        </p:spPr>
        <p:txBody>
          <a:bodyPr wrap="square" lIns="0" tIns="0" rIns="0" bIns="0" rtlCol="0" anchor="t"/>
          <a:lstStyle/>
          <a:p>
            <a:pPr marL="0" indent="0">
              <a:buNone/>
            </a:pPr>
            <a:r>
              <a:rPr lang="en-US" sz="7200" b="1" dirty="0">
                <a:solidFill>
                  <a:schemeClr val="tx2"/>
                </a:solidFill>
                <a:latin typeface="Cambria" pitchFamily="34" charset="0"/>
                <a:ea typeface="Cambria" pitchFamily="34" charset="-122"/>
                <a:cs typeface="Cambria" pitchFamily="34" charset="-120"/>
              </a:rPr>
              <a:t>250</a:t>
            </a:r>
            <a:endParaRPr lang="en-US" sz="7200" dirty="0"/>
          </a:p>
        </p:txBody>
      </p:sp>
      <p:sp>
        <p:nvSpPr>
          <p:cNvPr id="6" name="Text 4"/>
          <p:cNvSpPr txBox="1"/>
          <p:nvPr/>
        </p:nvSpPr>
        <p:spPr>
          <a:xfrm>
            <a:off x="914400" y="3200400"/>
            <a:ext cx="3383280" cy="731520"/>
          </a:xfrm>
          <a:prstGeom prst="rect">
            <a:avLst/>
          </a:prstGeom>
          <a:noFill/>
          <a:ln/>
        </p:spPr>
        <p:txBody>
          <a:bodyPr wrap="square" lIns="0" tIns="0" rIns="0" bIns="0" rtlCol="0" anchor="t"/>
          <a:lstStyle/>
          <a:p>
            <a:pPr marL="0" indent="0">
              <a:buNone/>
            </a:pPr>
            <a:r>
              <a:rPr lang="en-US" sz="1500" dirty="0">
                <a:solidFill>
                  <a:schemeClr val="tx1"/>
                </a:solidFill>
              </a:rPr>
              <a:t>templates</a:t>
            </a:r>
            <a:endParaRPr lang="en-US" sz="1500" dirty="0"/>
          </a:p>
          <a:p>
            <a:pPr marL="0" indent="0">
              <a:buNone/>
            </a:pPr>
            <a:r>
              <a:rPr lang="en-US" sz="1500" dirty="0">
                <a:solidFill>
                  <a:schemeClr val="tx1"/>
                </a:solidFill>
              </a:rPr>
              <a:t>100 Symbolic · 100 P1 · 50 P2</a:t>
            </a:r>
            <a:endParaRPr lang="en-US" sz="1500" dirty="0"/>
          </a:p>
        </p:txBody>
      </p:sp>
      <p:sp>
        <p:nvSpPr>
          <p:cNvPr id="7" name="Text 5"/>
          <p:cNvSpPr txBox="1"/>
          <p:nvPr/>
        </p:nvSpPr>
        <p:spPr>
          <a:xfrm>
            <a:off x="914400" y="4206240"/>
            <a:ext cx="3291840" cy="822960"/>
          </a:xfrm>
          <a:prstGeom prst="rect">
            <a:avLst/>
          </a:prstGeom>
          <a:noFill/>
          <a:ln/>
        </p:spPr>
        <p:txBody>
          <a:bodyPr wrap="square" lIns="0" tIns="0" rIns="0" bIns="0" rtlCol="0" anchor="t"/>
          <a:lstStyle/>
          <a:p>
            <a:pPr marL="0" indent="0">
              <a:buNone/>
            </a:pPr>
            <a:r>
              <a:rPr lang="en-US" sz="1600" b="1" dirty="0">
                <a:solidFill>
                  <a:schemeClr val="tx1"/>
                </a:solidFill>
              </a:rPr>
              <a:t>Generator code: </a:t>
            </a:r>
            <a:r>
              <a:rPr lang="en-US" sz="1600" i="1" dirty="0">
                <a:solidFill>
                  <a:schemeClr val="accent3"/>
                </a:solidFill>
              </a:rPr>
              <a:t>“not yet published”</a:t>
            </a:r>
            <a:endParaRPr lang="en-US" sz="1600" dirty="0"/>
          </a:p>
        </p:txBody>
      </p:sp>
      <p:sp>
        <p:nvSpPr>
          <p:cNvPr id="8" name="Text 6"/>
          <p:cNvSpPr txBox="1"/>
          <p:nvPr/>
        </p:nvSpPr>
        <p:spPr>
          <a:xfrm>
            <a:off x="4937760" y="1463040"/>
            <a:ext cx="6400800" cy="274320"/>
          </a:xfrm>
          <a:prstGeom prst="rect">
            <a:avLst/>
          </a:prstGeom>
          <a:noFill/>
          <a:ln/>
        </p:spPr>
        <p:txBody>
          <a:bodyPr wrap="square" lIns="0" tIns="0" rIns="0" bIns="0" rtlCol="0" anchor="t"/>
          <a:lstStyle/>
          <a:p>
            <a:pPr marL="0" indent="0">
              <a:buNone/>
            </a:pPr>
            <a:r>
              <a:rPr lang="en-US" sz="1200" b="1" kern="0" spc="200" dirty="0">
                <a:solidFill>
                  <a:schemeClr val="accent5"/>
                </a:solidFill>
              </a:rPr>
              <a:t>BUILT IN THIS PROJECT</a:t>
            </a:r>
            <a:endParaRPr lang="en-US" sz="1200" dirty="0"/>
          </a:p>
        </p:txBody>
      </p:sp>
      <p:pic>
        <p:nvPicPr>
          <p:cNvPr id="9" name="check 1" descr="preencoded.png"/>
          <p:cNvPicPr>
            <a:picLocks noChangeAspect="1"/>
          </p:cNvPicPr>
          <p:nvPr/>
        </p:nvPicPr>
        <p:blipFill>
          <a:blip r:embed="rId3"/>
          <a:stretch>
            <a:fillRect/>
          </a:stretch>
        </p:blipFill>
        <p:spPr>
          <a:xfrm>
            <a:off x="4937760" y="1929384"/>
            <a:ext cx="329184" cy="329184"/>
          </a:xfrm>
          <a:prstGeom prst="rect">
            <a:avLst/>
          </a:prstGeom>
        </p:spPr>
      </p:pic>
      <p:sp>
        <p:nvSpPr>
          <p:cNvPr id="10" name="Text 7"/>
          <p:cNvSpPr txBox="1"/>
          <p:nvPr/>
        </p:nvSpPr>
        <p:spPr>
          <a:xfrm>
            <a:off x="5440680" y="1874520"/>
            <a:ext cx="6217920" cy="548640"/>
          </a:xfrm>
          <a:prstGeom prst="rect">
            <a:avLst/>
          </a:prstGeom>
          <a:noFill/>
          <a:ln/>
        </p:spPr>
        <p:txBody>
          <a:bodyPr wrap="square" lIns="0" tIns="0" rIns="0" bIns="0" rtlCol="0" anchor="ctr"/>
          <a:lstStyle/>
          <a:p>
            <a:pPr marL="0" indent="0">
              <a:buNone/>
            </a:pPr>
            <a:r>
              <a:rPr lang="en-US" sz="1600" b="1" dirty="0">
                <a:solidFill>
                  <a:schemeClr val="tx2"/>
                </a:solidFill>
              </a:rPr>
              <a:t>Template parser + rejection sampler  </a:t>
            </a:r>
            <a:r>
              <a:rPr lang="en-US" sz="1400" dirty="0">
                <a:solidFill>
                  <a:schemeClr val="accent5"/>
                </a:solidFill>
              </a:rPr>
              <a:t>Apple's annotation language</a:t>
            </a:r>
            <a:endParaRPr lang="en-US" sz="1600" dirty="0"/>
          </a:p>
        </p:txBody>
      </p:sp>
      <p:pic>
        <p:nvPicPr>
          <p:cNvPr id="11" name="check 2" descr="preencoded.png"/>
          <p:cNvPicPr>
            <a:picLocks noChangeAspect="1"/>
          </p:cNvPicPr>
          <p:nvPr/>
        </p:nvPicPr>
        <p:blipFill>
          <a:blip r:embed="rId3"/>
          <a:stretch>
            <a:fillRect/>
          </a:stretch>
        </p:blipFill>
        <p:spPr>
          <a:xfrm>
            <a:off x="4937760" y="2615184"/>
            <a:ext cx="329184" cy="329184"/>
          </a:xfrm>
          <a:prstGeom prst="rect">
            <a:avLst/>
          </a:prstGeom>
        </p:spPr>
      </p:pic>
      <p:sp>
        <p:nvSpPr>
          <p:cNvPr id="12" name="Text 8"/>
          <p:cNvSpPr txBox="1"/>
          <p:nvPr/>
        </p:nvSpPr>
        <p:spPr>
          <a:xfrm>
            <a:off x="5440680" y="2560320"/>
            <a:ext cx="6217920" cy="548640"/>
          </a:xfrm>
          <a:prstGeom prst="rect">
            <a:avLst/>
          </a:prstGeom>
          <a:noFill/>
          <a:ln/>
        </p:spPr>
        <p:txBody>
          <a:bodyPr wrap="square" lIns="0" tIns="0" rIns="0" bIns="0" rtlCol="0" anchor="ctr"/>
          <a:lstStyle/>
          <a:p>
            <a:pPr marL="0" indent="0">
              <a:buNone/>
            </a:pPr>
            <a:r>
              <a:rPr lang="en-US" sz="1600" b="1" dirty="0">
                <a:solidFill>
                  <a:schemeClr val="tx2"/>
                </a:solidFill>
              </a:rPr>
              <a:t>4 perturbation modes  </a:t>
            </a:r>
            <a:r>
              <a:rPr lang="en-US" sz="1400" dirty="0">
                <a:solidFill>
                  <a:schemeClr val="accent5"/>
                </a:solidFill>
              </a:rPr>
              <a:t>original · names · numbers · both, plus P1 / P2</a:t>
            </a:r>
            <a:endParaRPr lang="en-US" sz="1600" dirty="0"/>
          </a:p>
        </p:txBody>
      </p:sp>
      <p:pic>
        <p:nvPicPr>
          <p:cNvPr id="13" name="check 3" descr="preencoded.png"/>
          <p:cNvPicPr>
            <a:picLocks noChangeAspect="1"/>
          </p:cNvPicPr>
          <p:nvPr/>
        </p:nvPicPr>
        <p:blipFill>
          <a:blip r:embed="rId3"/>
          <a:stretch>
            <a:fillRect/>
          </a:stretch>
        </p:blipFill>
        <p:spPr>
          <a:xfrm>
            <a:off x="4937760" y="3300984"/>
            <a:ext cx="329184" cy="329184"/>
          </a:xfrm>
          <a:prstGeom prst="rect">
            <a:avLst/>
          </a:prstGeom>
        </p:spPr>
      </p:pic>
      <p:sp>
        <p:nvSpPr>
          <p:cNvPr id="14" name="Text 9"/>
          <p:cNvSpPr txBox="1"/>
          <p:nvPr/>
        </p:nvSpPr>
        <p:spPr>
          <a:xfrm>
            <a:off x="5440680" y="3246120"/>
            <a:ext cx="6217920" cy="548640"/>
          </a:xfrm>
          <a:prstGeom prst="rect">
            <a:avLst/>
          </a:prstGeom>
          <a:noFill/>
          <a:ln/>
        </p:spPr>
        <p:txBody>
          <a:bodyPr wrap="square" lIns="0" tIns="0" rIns="0" bIns="0" rtlCol="0" anchor="ctr"/>
          <a:lstStyle/>
          <a:p>
            <a:pPr marL="0" indent="0">
              <a:buNone/>
            </a:pPr>
            <a:r>
              <a:rPr lang="en-US" sz="1600" b="1" dirty="0">
                <a:solidFill>
                  <a:schemeClr val="tx2"/>
                </a:solidFill>
              </a:rPr>
              <a:t>Validator on all 250 templates  </a:t>
            </a:r>
            <a:r>
              <a:rPr lang="en-US" sz="1400" dirty="0">
                <a:solidFill>
                  <a:schemeClr val="accent5"/>
                </a:solidFill>
              </a:rPr>
              <a:t>solutions must match the answer formula</a:t>
            </a:r>
            <a:endParaRPr lang="en-US" sz="1600" dirty="0"/>
          </a:p>
        </p:txBody>
      </p:sp>
      <p:pic>
        <p:nvPicPr>
          <p:cNvPr id="15" name="check 4" descr="preencoded.png"/>
          <p:cNvPicPr>
            <a:picLocks noChangeAspect="1"/>
          </p:cNvPicPr>
          <p:nvPr/>
        </p:nvPicPr>
        <p:blipFill>
          <a:blip r:embed="rId3"/>
          <a:stretch>
            <a:fillRect/>
          </a:stretch>
        </p:blipFill>
        <p:spPr>
          <a:xfrm>
            <a:off x="4937760" y="3986784"/>
            <a:ext cx="329184" cy="329184"/>
          </a:xfrm>
          <a:prstGeom prst="rect">
            <a:avLst/>
          </a:prstGeom>
        </p:spPr>
      </p:pic>
      <p:sp>
        <p:nvSpPr>
          <p:cNvPr id="16" name="Text 10"/>
          <p:cNvSpPr txBox="1"/>
          <p:nvPr/>
        </p:nvSpPr>
        <p:spPr>
          <a:xfrm>
            <a:off x="5440680" y="3931920"/>
            <a:ext cx="6217920" cy="548640"/>
          </a:xfrm>
          <a:prstGeom prst="rect">
            <a:avLst/>
          </a:prstGeom>
          <a:noFill/>
          <a:ln/>
        </p:spPr>
        <p:txBody>
          <a:bodyPr wrap="square" lIns="0" tIns="0" rIns="0" bIns="0" rtlCol="0" anchor="ctr"/>
          <a:lstStyle/>
          <a:p>
            <a:pPr marL="0" indent="0">
              <a:buNone/>
            </a:pPr>
            <a:r>
              <a:rPr lang="en-US" sz="1600" b="1" dirty="0">
                <a:solidFill>
                  <a:schemeClr val="tx2"/>
                </a:solidFill>
              </a:rPr>
              <a:t>GSM-NoOp distractors  </a:t>
            </a:r>
            <a:r>
              <a:rPr lang="en-US" sz="1400" dirty="0">
                <a:solidFill>
                  <a:schemeClr val="accent5"/>
                </a:solidFill>
              </a:rPr>
              <a:t>hand-written for 14 templates</a:t>
            </a:r>
            <a:endParaRPr lang="en-US" sz="1600" dirty="0"/>
          </a:p>
        </p:txBody>
      </p:sp>
      <p:pic>
        <p:nvPicPr>
          <p:cNvPr id="17" name="check 5" descr="preencoded.png"/>
          <p:cNvPicPr>
            <a:picLocks noChangeAspect="1"/>
          </p:cNvPicPr>
          <p:nvPr/>
        </p:nvPicPr>
        <p:blipFill>
          <a:blip r:embed="rId3"/>
          <a:stretch>
            <a:fillRect/>
          </a:stretch>
        </p:blipFill>
        <p:spPr>
          <a:xfrm>
            <a:off x="4937760" y="4672584"/>
            <a:ext cx="329184" cy="329184"/>
          </a:xfrm>
          <a:prstGeom prst="rect">
            <a:avLst/>
          </a:prstGeom>
        </p:spPr>
      </p:pic>
      <p:sp>
        <p:nvSpPr>
          <p:cNvPr id="18" name="Text 11"/>
          <p:cNvSpPr txBox="1"/>
          <p:nvPr/>
        </p:nvSpPr>
        <p:spPr>
          <a:xfrm>
            <a:off x="5440680" y="4617720"/>
            <a:ext cx="6217920" cy="548640"/>
          </a:xfrm>
          <a:prstGeom prst="rect">
            <a:avLst/>
          </a:prstGeom>
          <a:noFill/>
          <a:ln/>
        </p:spPr>
        <p:txBody>
          <a:bodyPr wrap="square" lIns="0" tIns="0" rIns="0" bIns="0" rtlCol="0" anchor="ctr"/>
          <a:lstStyle/>
          <a:p>
            <a:pPr marL="0" indent="0">
              <a:buNone/>
            </a:pPr>
            <a:r>
              <a:rPr lang="en-US" sz="1600" b="1" dirty="0">
                <a:solidFill>
                  <a:schemeClr val="tx2"/>
                </a:solidFill>
              </a:rPr>
              <a:t>8-shot CoT evaluation harness  </a:t>
            </a:r>
            <a:r>
              <a:rPr lang="en-US" sz="1400" dirty="0">
                <a:solidFill>
                  <a:schemeClr val="accent5"/>
                </a:solidFill>
              </a:rPr>
              <a:t>Qwen2.5-0.5B / 1.5B, greedy, cached</a:t>
            </a:r>
            <a:endParaRPr lang="en-US" sz="1600" dirty="0"/>
          </a:p>
        </p:txBody>
      </p:sp>
      <p:pic>
        <p:nvPicPr>
          <p:cNvPr id="19" name="check 6" descr="preencoded.png"/>
          <p:cNvPicPr>
            <a:picLocks noChangeAspect="1"/>
          </p:cNvPicPr>
          <p:nvPr/>
        </p:nvPicPr>
        <p:blipFill>
          <a:blip r:embed="rId3"/>
          <a:stretch>
            <a:fillRect/>
          </a:stretch>
        </p:blipFill>
        <p:spPr>
          <a:xfrm>
            <a:off x="4937760" y="5358384"/>
            <a:ext cx="329184" cy="329184"/>
          </a:xfrm>
          <a:prstGeom prst="rect">
            <a:avLst/>
          </a:prstGeom>
        </p:spPr>
      </p:pic>
      <p:sp>
        <p:nvSpPr>
          <p:cNvPr id="20" name="Text 12"/>
          <p:cNvSpPr txBox="1"/>
          <p:nvPr/>
        </p:nvSpPr>
        <p:spPr>
          <a:xfrm>
            <a:off x="5440680" y="5303520"/>
            <a:ext cx="6217920" cy="548640"/>
          </a:xfrm>
          <a:prstGeom prst="rect">
            <a:avLst/>
          </a:prstGeom>
          <a:noFill/>
          <a:ln/>
        </p:spPr>
        <p:txBody>
          <a:bodyPr wrap="square" lIns="0" tIns="0" rIns="0" bIns="0" rtlCol="0" anchor="ctr"/>
          <a:lstStyle/>
          <a:p>
            <a:pPr marL="0" indent="0">
              <a:buNone/>
            </a:pPr>
            <a:r>
              <a:rPr lang="en-US" sz="1600" b="1" dirty="0">
                <a:solidFill>
                  <a:schemeClr val="tx2"/>
                </a:solidFill>
              </a:rPr>
              <a:t>Statistical checks  </a:t>
            </a:r>
            <a:r>
              <a:rPr lang="en-US" sz="1400" dirty="0">
                <a:solidFill>
                  <a:schemeClr val="accent5"/>
                </a:solidFill>
              </a:rPr>
              <a:t>noise baseline · bootstrap CIs · confound</a:t>
            </a:r>
            <a:endParaRPr lang="en-US" sz="16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The end-to-end pipeline</a:t>
            </a:r>
            <a:endParaRPr lang="en-US" sz="3600" dirty="0"/>
          </a:p>
        </p:txBody>
      </p:sp>
      <p:sp>
        <p:nvSpPr>
          <p:cNvPr id="3" name="step 1"/>
          <p:cNvSpPr/>
          <p:nvPr/>
        </p:nvSpPr>
        <p:spPr>
          <a:xfrm>
            <a:off x="548640" y="1463040"/>
            <a:ext cx="1600200" cy="2057400"/>
          </a:xfrm>
          <a:prstGeom prst="roundRect">
            <a:avLst>
              <a:gd name="adj" fmla="val 6857"/>
            </a:avLst>
          </a:prstGeom>
          <a:solidFill>
            <a:schemeClr val="bg2"/>
          </a:solidFill>
          <a:ln/>
        </p:spPr>
      </p:sp>
      <p:sp>
        <p:nvSpPr>
          <p:cNvPr id="4" name="step 1 circle"/>
          <p:cNvSpPr/>
          <p:nvPr/>
        </p:nvSpPr>
        <p:spPr>
          <a:xfrm>
            <a:off x="1028700" y="1691640"/>
            <a:ext cx="640080" cy="640080"/>
          </a:xfrm>
          <a:prstGeom prst="ellipse">
            <a:avLst/>
          </a:prstGeom>
          <a:solidFill>
            <a:schemeClr val="accent1"/>
          </a:solidFill>
          <a:ln/>
        </p:spPr>
      </p:sp>
      <p:pic>
        <p:nvPicPr>
          <p:cNvPr id="5" name="step 1 icon" descr="preencoded.png"/>
          <p:cNvPicPr>
            <a:picLocks noChangeAspect="1"/>
          </p:cNvPicPr>
          <p:nvPr/>
        </p:nvPicPr>
        <p:blipFill>
          <a:blip r:embed="rId3"/>
          <a:stretch>
            <a:fillRect/>
          </a:stretch>
        </p:blipFill>
        <p:spPr>
          <a:xfrm>
            <a:off x="1188720" y="1851660"/>
            <a:ext cx="320040" cy="320040"/>
          </a:xfrm>
          <a:prstGeom prst="rect">
            <a:avLst/>
          </a:prstGeom>
        </p:spPr>
      </p:pic>
      <p:sp>
        <p:nvSpPr>
          <p:cNvPr id="6" name="Text 3"/>
          <p:cNvSpPr txBox="1"/>
          <p:nvPr/>
        </p:nvSpPr>
        <p:spPr>
          <a:xfrm>
            <a:off x="658368" y="2468880"/>
            <a:ext cx="1380744" cy="960120"/>
          </a:xfrm>
          <a:prstGeom prst="rect">
            <a:avLst/>
          </a:prstGeom>
          <a:noFill/>
          <a:ln/>
        </p:spPr>
        <p:txBody>
          <a:bodyPr wrap="square" lIns="0" tIns="0" rIns="0" bIns="0" rtlCol="0" anchor="t"/>
          <a:lstStyle/>
          <a:p>
            <a:pPr marL="0" indent="0" algn="ctr">
              <a:buNone/>
            </a:pPr>
            <a:r>
              <a:rPr lang="en-US" sz="1400" b="1" dirty="0">
                <a:solidFill>
                  <a:schemeClr val="tx1"/>
                </a:solidFill>
              </a:rPr>
              <a:t>Parse template</a:t>
            </a:r>
            <a:endParaRPr lang="en-US" sz="1400" dirty="0"/>
          </a:p>
        </p:txBody>
      </p:sp>
      <p:sp>
        <p:nvSpPr>
          <p:cNvPr id="7" name="arrow 1"/>
          <p:cNvSpPr/>
          <p:nvPr/>
        </p:nvSpPr>
        <p:spPr>
          <a:xfrm>
            <a:off x="2185416" y="2487168"/>
            <a:ext cx="225491" cy="0"/>
          </a:xfrm>
          <a:prstGeom prst="line">
            <a:avLst/>
          </a:prstGeom>
          <a:noFill/>
          <a:ln w="25400">
            <a:solidFill>
              <a:schemeClr val="accent4"/>
            </a:solidFill>
            <a:prstDash val="solid"/>
            <a:tailEnd type="triangle"/>
          </a:ln>
        </p:spPr>
      </p:sp>
      <p:sp>
        <p:nvSpPr>
          <p:cNvPr id="8" name="step 2"/>
          <p:cNvSpPr/>
          <p:nvPr/>
        </p:nvSpPr>
        <p:spPr>
          <a:xfrm>
            <a:off x="2447483" y="1463040"/>
            <a:ext cx="1600200" cy="2057400"/>
          </a:xfrm>
          <a:prstGeom prst="roundRect">
            <a:avLst>
              <a:gd name="adj" fmla="val 6857"/>
            </a:avLst>
          </a:prstGeom>
          <a:solidFill>
            <a:schemeClr val="bg2"/>
          </a:solidFill>
          <a:ln/>
        </p:spPr>
      </p:sp>
      <p:sp>
        <p:nvSpPr>
          <p:cNvPr id="9" name="step 2 circle"/>
          <p:cNvSpPr/>
          <p:nvPr/>
        </p:nvSpPr>
        <p:spPr>
          <a:xfrm>
            <a:off x="2927543" y="1691640"/>
            <a:ext cx="640080" cy="640080"/>
          </a:xfrm>
          <a:prstGeom prst="ellipse">
            <a:avLst/>
          </a:prstGeom>
          <a:solidFill>
            <a:schemeClr val="accent1"/>
          </a:solidFill>
          <a:ln/>
        </p:spPr>
      </p:sp>
      <p:pic>
        <p:nvPicPr>
          <p:cNvPr id="10" name="step 2 icon" descr="preencoded.png"/>
          <p:cNvPicPr>
            <a:picLocks noChangeAspect="1"/>
          </p:cNvPicPr>
          <p:nvPr/>
        </p:nvPicPr>
        <p:blipFill>
          <a:blip r:embed="rId4"/>
          <a:stretch>
            <a:fillRect/>
          </a:stretch>
        </p:blipFill>
        <p:spPr>
          <a:xfrm>
            <a:off x="3087563" y="1851660"/>
            <a:ext cx="320040" cy="320040"/>
          </a:xfrm>
          <a:prstGeom prst="rect">
            <a:avLst/>
          </a:prstGeom>
        </p:spPr>
      </p:pic>
      <p:sp>
        <p:nvSpPr>
          <p:cNvPr id="11" name="Text 7"/>
          <p:cNvSpPr txBox="1"/>
          <p:nvPr/>
        </p:nvSpPr>
        <p:spPr>
          <a:xfrm>
            <a:off x="2557211" y="2468880"/>
            <a:ext cx="1380744" cy="960120"/>
          </a:xfrm>
          <a:prstGeom prst="rect">
            <a:avLst/>
          </a:prstGeom>
          <a:noFill/>
          <a:ln/>
        </p:spPr>
        <p:txBody>
          <a:bodyPr wrap="square" lIns="0" tIns="0" rIns="0" bIns="0" rtlCol="0" anchor="t"/>
          <a:lstStyle/>
          <a:p>
            <a:pPr marL="0" indent="0" algn="ctr">
              <a:buNone/>
            </a:pPr>
            <a:r>
              <a:rPr lang="en-US" sz="1400" b="1" dirty="0">
                <a:solidFill>
                  <a:schemeClr val="tx1"/>
                </a:solidFill>
              </a:rPr>
              <a:t>Sample values, check conditions</a:t>
            </a:r>
            <a:endParaRPr lang="en-US" sz="1400" dirty="0"/>
          </a:p>
        </p:txBody>
      </p:sp>
      <p:sp>
        <p:nvSpPr>
          <p:cNvPr id="12" name="arrow 2"/>
          <p:cNvSpPr/>
          <p:nvPr/>
        </p:nvSpPr>
        <p:spPr>
          <a:xfrm>
            <a:off x="4084259" y="2487168"/>
            <a:ext cx="225491" cy="0"/>
          </a:xfrm>
          <a:prstGeom prst="line">
            <a:avLst/>
          </a:prstGeom>
          <a:noFill/>
          <a:ln w="25400">
            <a:solidFill>
              <a:schemeClr val="accent4"/>
            </a:solidFill>
            <a:prstDash val="solid"/>
            <a:tailEnd type="triangle"/>
          </a:ln>
        </p:spPr>
      </p:sp>
      <p:sp>
        <p:nvSpPr>
          <p:cNvPr id="13" name="step 3"/>
          <p:cNvSpPr/>
          <p:nvPr/>
        </p:nvSpPr>
        <p:spPr>
          <a:xfrm>
            <a:off x="4346326" y="1463040"/>
            <a:ext cx="1600200" cy="2057400"/>
          </a:xfrm>
          <a:prstGeom prst="roundRect">
            <a:avLst>
              <a:gd name="adj" fmla="val 6857"/>
            </a:avLst>
          </a:prstGeom>
          <a:solidFill>
            <a:schemeClr val="bg2"/>
          </a:solidFill>
          <a:ln/>
        </p:spPr>
      </p:sp>
      <p:sp>
        <p:nvSpPr>
          <p:cNvPr id="14" name="step 3 circle"/>
          <p:cNvSpPr/>
          <p:nvPr/>
        </p:nvSpPr>
        <p:spPr>
          <a:xfrm>
            <a:off x="4826386" y="1691640"/>
            <a:ext cx="640080" cy="640080"/>
          </a:xfrm>
          <a:prstGeom prst="ellipse">
            <a:avLst/>
          </a:prstGeom>
          <a:solidFill>
            <a:schemeClr val="accent1"/>
          </a:solidFill>
          <a:ln/>
        </p:spPr>
      </p:sp>
      <p:pic>
        <p:nvPicPr>
          <p:cNvPr id="15" name="step 3 icon" descr="preencoded.png"/>
          <p:cNvPicPr>
            <a:picLocks noChangeAspect="1"/>
          </p:cNvPicPr>
          <p:nvPr/>
        </p:nvPicPr>
        <p:blipFill>
          <a:blip r:embed="rId5"/>
          <a:stretch>
            <a:fillRect/>
          </a:stretch>
        </p:blipFill>
        <p:spPr>
          <a:xfrm>
            <a:off x="4986406" y="1851660"/>
            <a:ext cx="320040" cy="320040"/>
          </a:xfrm>
          <a:prstGeom prst="rect">
            <a:avLst/>
          </a:prstGeom>
        </p:spPr>
      </p:pic>
      <p:sp>
        <p:nvSpPr>
          <p:cNvPr id="16" name="Text 11"/>
          <p:cNvSpPr txBox="1"/>
          <p:nvPr/>
        </p:nvSpPr>
        <p:spPr>
          <a:xfrm>
            <a:off x="4456054" y="2468880"/>
            <a:ext cx="1380744" cy="960120"/>
          </a:xfrm>
          <a:prstGeom prst="rect">
            <a:avLst/>
          </a:prstGeom>
          <a:noFill/>
          <a:ln/>
        </p:spPr>
        <p:txBody>
          <a:bodyPr wrap="square" lIns="0" tIns="0" rIns="0" bIns="0" rtlCol="0" anchor="t"/>
          <a:lstStyle/>
          <a:p>
            <a:pPr marL="0" indent="0" algn="ctr">
              <a:buNone/>
            </a:pPr>
            <a:r>
              <a:rPr lang="en-US" sz="1400" b="1" dirty="0">
                <a:solidFill>
                  <a:schemeClr val="tx1"/>
                </a:solidFill>
              </a:rPr>
              <a:t>Render question + gold answer</a:t>
            </a:r>
            <a:endParaRPr lang="en-US" sz="1400" dirty="0"/>
          </a:p>
        </p:txBody>
      </p:sp>
      <p:sp>
        <p:nvSpPr>
          <p:cNvPr id="17" name="arrow 3"/>
          <p:cNvSpPr/>
          <p:nvPr/>
        </p:nvSpPr>
        <p:spPr>
          <a:xfrm>
            <a:off x="5983102" y="2487168"/>
            <a:ext cx="225491" cy="0"/>
          </a:xfrm>
          <a:prstGeom prst="line">
            <a:avLst/>
          </a:prstGeom>
          <a:noFill/>
          <a:ln w="25400">
            <a:solidFill>
              <a:schemeClr val="accent4"/>
            </a:solidFill>
            <a:prstDash val="solid"/>
            <a:tailEnd type="triangle"/>
          </a:ln>
        </p:spPr>
      </p:sp>
      <p:sp>
        <p:nvSpPr>
          <p:cNvPr id="18" name="step 4"/>
          <p:cNvSpPr/>
          <p:nvPr/>
        </p:nvSpPr>
        <p:spPr>
          <a:xfrm>
            <a:off x="6245169" y="1463040"/>
            <a:ext cx="1600200" cy="2057400"/>
          </a:xfrm>
          <a:prstGeom prst="roundRect">
            <a:avLst>
              <a:gd name="adj" fmla="val 6857"/>
            </a:avLst>
          </a:prstGeom>
          <a:solidFill>
            <a:schemeClr val="bg2"/>
          </a:solidFill>
          <a:ln/>
        </p:spPr>
      </p:sp>
      <p:sp>
        <p:nvSpPr>
          <p:cNvPr id="19" name="step 4 circle"/>
          <p:cNvSpPr/>
          <p:nvPr/>
        </p:nvSpPr>
        <p:spPr>
          <a:xfrm>
            <a:off x="6725229" y="1691640"/>
            <a:ext cx="640080" cy="640080"/>
          </a:xfrm>
          <a:prstGeom prst="ellipse">
            <a:avLst/>
          </a:prstGeom>
          <a:solidFill>
            <a:schemeClr val="accent2"/>
          </a:solidFill>
          <a:ln/>
        </p:spPr>
      </p:sp>
      <p:pic>
        <p:nvPicPr>
          <p:cNvPr id="20" name="step 4 icon" descr="preencoded.png"/>
          <p:cNvPicPr>
            <a:picLocks noChangeAspect="1"/>
          </p:cNvPicPr>
          <p:nvPr/>
        </p:nvPicPr>
        <p:blipFill>
          <a:blip r:embed="rId6"/>
          <a:stretch>
            <a:fillRect/>
          </a:stretch>
        </p:blipFill>
        <p:spPr>
          <a:xfrm>
            <a:off x="6885249" y="1851660"/>
            <a:ext cx="320040" cy="320040"/>
          </a:xfrm>
          <a:prstGeom prst="rect">
            <a:avLst/>
          </a:prstGeom>
        </p:spPr>
      </p:pic>
      <p:sp>
        <p:nvSpPr>
          <p:cNvPr id="21" name="Text 15"/>
          <p:cNvSpPr txBox="1"/>
          <p:nvPr/>
        </p:nvSpPr>
        <p:spPr>
          <a:xfrm>
            <a:off x="6354897" y="2468880"/>
            <a:ext cx="1380744" cy="960120"/>
          </a:xfrm>
          <a:prstGeom prst="rect">
            <a:avLst/>
          </a:prstGeom>
          <a:noFill/>
          <a:ln/>
        </p:spPr>
        <p:txBody>
          <a:bodyPr wrap="square" lIns="0" tIns="0" rIns="0" bIns="0" rtlCol="0" anchor="t"/>
          <a:lstStyle/>
          <a:p>
            <a:pPr marL="0" indent="0" algn="ctr">
              <a:buNone/>
            </a:pPr>
            <a:r>
              <a:rPr lang="en-US" sz="1400" b="1" dirty="0">
                <a:solidFill>
                  <a:schemeClr val="tx1"/>
                </a:solidFill>
              </a:rPr>
              <a:t>Build 8-shot CoT prompt</a:t>
            </a:r>
            <a:endParaRPr lang="en-US" sz="1400" dirty="0"/>
          </a:p>
        </p:txBody>
      </p:sp>
      <p:sp>
        <p:nvSpPr>
          <p:cNvPr id="22" name="arrow 4"/>
          <p:cNvSpPr/>
          <p:nvPr/>
        </p:nvSpPr>
        <p:spPr>
          <a:xfrm>
            <a:off x="7881945" y="2487168"/>
            <a:ext cx="225491" cy="0"/>
          </a:xfrm>
          <a:prstGeom prst="line">
            <a:avLst/>
          </a:prstGeom>
          <a:noFill/>
          <a:ln w="25400">
            <a:solidFill>
              <a:schemeClr val="accent4"/>
            </a:solidFill>
            <a:prstDash val="solid"/>
            <a:tailEnd type="triangle"/>
          </a:ln>
        </p:spPr>
      </p:sp>
      <p:sp>
        <p:nvSpPr>
          <p:cNvPr id="23" name="step 5"/>
          <p:cNvSpPr/>
          <p:nvPr/>
        </p:nvSpPr>
        <p:spPr>
          <a:xfrm>
            <a:off x="8144012" y="1463040"/>
            <a:ext cx="1600200" cy="2057400"/>
          </a:xfrm>
          <a:prstGeom prst="roundRect">
            <a:avLst>
              <a:gd name="adj" fmla="val 6857"/>
            </a:avLst>
          </a:prstGeom>
          <a:solidFill>
            <a:schemeClr val="bg2"/>
          </a:solidFill>
          <a:ln/>
        </p:spPr>
      </p:sp>
      <p:sp>
        <p:nvSpPr>
          <p:cNvPr id="24" name="step 5 circle"/>
          <p:cNvSpPr/>
          <p:nvPr/>
        </p:nvSpPr>
        <p:spPr>
          <a:xfrm>
            <a:off x="8624072" y="1691640"/>
            <a:ext cx="640080" cy="640080"/>
          </a:xfrm>
          <a:prstGeom prst="ellipse">
            <a:avLst/>
          </a:prstGeom>
          <a:solidFill>
            <a:schemeClr val="accent2"/>
          </a:solidFill>
          <a:ln/>
        </p:spPr>
      </p:sp>
      <p:pic>
        <p:nvPicPr>
          <p:cNvPr id="25" name="step 5 icon" descr="preencoded.png"/>
          <p:cNvPicPr>
            <a:picLocks noChangeAspect="1"/>
          </p:cNvPicPr>
          <p:nvPr/>
        </p:nvPicPr>
        <p:blipFill>
          <a:blip r:embed="rId7"/>
          <a:stretch>
            <a:fillRect/>
          </a:stretch>
        </p:blipFill>
        <p:spPr>
          <a:xfrm>
            <a:off x="8784092" y="1851660"/>
            <a:ext cx="320040" cy="320040"/>
          </a:xfrm>
          <a:prstGeom prst="rect">
            <a:avLst/>
          </a:prstGeom>
        </p:spPr>
      </p:pic>
      <p:sp>
        <p:nvSpPr>
          <p:cNvPr id="26" name="Text 19"/>
          <p:cNvSpPr txBox="1"/>
          <p:nvPr/>
        </p:nvSpPr>
        <p:spPr>
          <a:xfrm>
            <a:off x="8253740" y="2468880"/>
            <a:ext cx="1380744" cy="960120"/>
          </a:xfrm>
          <a:prstGeom prst="rect">
            <a:avLst/>
          </a:prstGeom>
          <a:noFill/>
          <a:ln/>
        </p:spPr>
        <p:txBody>
          <a:bodyPr wrap="square" lIns="0" tIns="0" rIns="0" bIns="0" rtlCol="0" anchor="t"/>
          <a:lstStyle/>
          <a:p>
            <a:pPr marL="0" indent="0" algn="ctr">
              <a:buNone/>
            </a:pPr>
            <a:r>
              <a:rPr lang="en-US" sz="1400" b="1" dirty="0">
                <a:solidFill>
                  <a:schemeClr val="tx1"/>
                </a:solidFill>
              </a:rPr>
              <a:t>Qwen2.5 generates (greedy)</a:t>
            </a:r>
            <a:endParaRPr lang="en-US" sz="1400" dirty="0"/>
          </a:p>
        </p:txBody>
      </p:sp>
      <p:sp>
        <p:nvSpPr>
          <p:cNvPr id="27" name="arrow 5"/>
          <p:cNvSpPr/>
          <p:nvPr/>
        </p:nvSpPr>
        <p:spPr>
          <a:xfrm>
            <a:off x="9780788" y="2487168"/>
            <a:ext cx="225491" cy="0"/>
          </a:xfrm>
          <a:prstGeom prst="line">
            <a:avLst/>
          </a:prstGeom>
          <a:noFill/>
          <a:ln w="25400">
            <a:solidFill>
              <a:schemeClr val="accent4"/>
            </a:solidFill>
            <a:prstDash val="solid"/>
            <a:tailEnd type="triangle"/>
          </a:ln>
        </p:spPr>
      </p:sp>
      <p:sp>
        <p:nvSpPr>
          <p:cNvPr id="28" name="step 6"/>
          <p:cNvSpPr/>
          <p:nvPr/>
        </p:nvSpPr>
        <p:spPr>
          <a:xfrm>
            <a:off x="10042855" y="1463040"/>
            <a:ext cx="1600200" cy="2057400"/>
          </a:xfrm>
          <a:prstGeom prst="roundRect">
            <a:avLst>
              <a:gd name="adj" fmla="val 6857"/>
            </a:avLst>
          </a:prstGeom>
          <a:solidFill>
            <a:schemeClr val="bg2"/>
          </a:solidFill>
          <a:ln/>
        </p:spPr>
      </p:sp>
      <p:sp>
        <p:nvSpPr>
          <p:cNvPr id="29" name="step 6 circle"/>
          <p:cNvSpPr/>
          <p:nvPr/>
        </p:nvSpPr>
        <p:spPr>
          <a:xfrm>
            <a:off x="10522915" y="1691640"/>
            <a:ext cx="640080" cy="640080"/>
          </a:xfrm>
          <a:prstGeom prst="ellipse">
            <a:avLst/>
          </a:prstGeom>
          <a:solidFill>
            <a:schemeClr val="accent2"/>
          </a:solidFill>
          <a:ln/>
        </p:spPr>
      </p:sp>
      <p:pic>
        <p:nvPicPr>
          <p:cNvPr id="30" name="step 6 icon" descr="preencoded.png"/>
          <p:cNvPicPr>
            <a:picLocks noChangeAspect="1"/>
          </p:cNvPicPr>
          <p:nvPr/>
        </p:nvPicPr>
        <p:blipFill>
          <a:blip r:embed="rId8"/>
          <a:stretch>
            <a:fillRect/>
          </a:stretch>
        </p:blipFill>
        <p:spPr>
          <a:xfrm>
            <a:off x="10682935" y="1851660"/>
            <a:ext cx="320040" cy="320040"/>
          </a:xfrm>
          <a:prstGeom prst="rect">
            <a:avLst/>
          </a:prstGeom>
        </p:spPr>
      </p:pic>
      <p:sp>
        <p:nvSpPr>
          <p:cNvPr id="31" name="Text 23"/>
          <p:cNvSpPr txBox="1"/>
          <p:nvPr/>
        </p:nvSpPr>
        <p:spPr>
          <a:xfrm>
            <a:off x="10152583" y="2468880"/>
            <a:ext cx="1380744" cy="960120"/>
          </a:xfrm>
          <a:prstGeom prst="rect">
            <a:avLst/>
          </a:prstGeom>
          <a:noFill/>
          <a:ln/>
        </p:spPr>
        <p:txBody>
          <a:bodyPr wrap="square" lIns="0" tIns="0" rIns="0" bIns="0" rtlCol="0" anchor="t"/>
          <a:lstStyle/>
          <a:p>
            <a:pPr marL="0" indent="0" algn="ctr">
              <a:buNone/>
            </a:pPr>
            <a:r>
              <a:rPr lang="en-US" sz="1400" b="1" dirty="0">
                <a:solidFill>
                  <a:schemeClr val="tx1"/>
                </a:solidFill>
              </a:rPr>
              <a:t>Parse “final answer is”, score</a:t>
            </a:r>
            <a:endParaRPr lang="en-US" sz="1400" dirty="0"/>
          </a:p>
        </p:txBody>
      </p:sp>
      <p:sp>
        <p:nvSpPr>
          <p:cNvPr id="32" name="Text 24"/>
          <p:cNvSpPr txBox="1"/>
          <p:nvPr/>
        </p:nvSpPr>
        <p:spPr>
          <a:xfrm>
            <a:off x="548640" y="3657600"/>
            <a:ext cx="5397886" cy="274320"/>
          </a:xfrm>
          <a:prstGeom prst="rect">
            <a:avLst/>
          </a:prstGeom>
          <a:noFill/>
          <a:ln/>
        </p:spPr>
        <p:txBody>
          <a:bodyPr wrap="square" lIns="0" tIns="0" rIns="0" bIns="0" rtlCol="0" anchor="t"/>
          <a:lstStyle/>
          <a:p>
            <a:pPr marL="0" indent="0" algn="ctr">
              <a:buNone/>
            </a:pPr>
            <a:r>
              <a:rPr lang="en-US" sz="1200" b="1" kern="0" spc="200" dirty="0">
                <a:solidFill>
                  <a:schemeClr val="accent1"/>
                </a:solidFill>
              </a:rPr>
              <a:t>GENERATOR</a:t>
            </a:r>
            <a:endParaRPr lang="en-US" sz="1200" dirty="0"/>
          </a:p>
        </p:txBody>
      </p:sp>
      <p:sp>
        <p:nvSpPr>
          <p:cNvPr id="33" name="Text 25"/>
          <p:cNvSpPr txBox="1"/>
          <p:nvPr/>
        </p:nvSpPr>
        <p:spPr>
          <a:xfrm>
            <a:off x="6245169" y="3657600"/>
            <a:ext cx="5397886" cy="274320"/>
          </a:xfrm>
          <a:prstGeom prst="rect">
            <a:avLst/>
          </a:prstGeom>
          <a:noFill/>
          <a:ln/>
        </p:spPr>
        <p:txBody>
          <a:bodyPr wrap="square" lIns="0" tIns="0" rIns="0" bIns="0" rtlCol="0" anchor="t"/>
          <a:lstStyle/>
          <a:p>
            <a:pPr marL="0" indent="0" algn="ctr">
              <a:buNone/>
            </a:pPr>
            <a:r>
              <a:rPr lang="en-US" sz="1200" b="1" kern="0" spc="200" dirty="0">
                <a:solidFill>
                  <a:schemeClr val="accent2"/>
                </a:solidFill>
              </a:rPr>
              <a:t>EVALUATION</a:t>
            </a:r>
            <a:endParaRPr lang="en-US" sz="1200" dirty="0"/>
          </a:p>
        </p:txBody>
      </p:sp>
      <p:sp>
        <p:nvSpPr>
          <p:cNvPr id="34" name="Text 26"/>
          <p:cNvSpPr txBox="1"/>
          <p:nvPr/>
        </p:nvSpPr>
        <p:spPr>
          <a:xfrm>
            <a:off x="548640" y="4251960"/>
            <a:ext cx="5120640" cy="365760"/>
          </a:xfrm>
          <a:prstGeom prst="rect">
            <a:avLst/>
          </a:prstGeom>
          <a:noFill/>
          <a:ln/>
        </p:spPr>
        <p:txBody>
          <a:bodyPr wrap="square" lIns="0" tIns="0" rIns="0" bIns="0" rtlCol="0" anchor="t"/>
          <a:lstStyle/>
          <a:p>
            <a:pPr marL="0" indent="0">
              <a:buNone/>
            </a:pPr>
            <a:r>
              <a:rPr lang="en-US" sz="1800" b="1" dirty="0">
                <a:solidFill>
                  <a:schemeClr val="tx2"/>
                </a:solidFill>
              </a:rPr>
              <a:t>Perturbation modes</a:t>
            </a:r>
            <a:endParaRPr lang="en-US" sz="1800" dirty="0"/>
          </a:p>
        </p:txBody>
      </p:sp>
      <p:sp>
        <p:nvSpPr>
          <p:cNvPr id="35" name="mode original"/>
          <p:cNvSpPr/>
          <p:nvPr/>
        </p:nvSpPr>
        <p:spPr>
          <a:xfrm>
            <a:off x="548640" y="4754880"/>
            <a:ext cx="914400" cy="457200"/>
          </a:xfrm>
          <a:prstGeom prst="roundRect">
            <a:avLst>
              <a:gd name="adj" fmla="val 50000"/>
            </a:avLst>
          </a:prstGeom>
          <a:solidFill>
            <a:schemeClr val="tx2"/>
          </a:solidFill>
          <a:ln/>
        </p:spPr>
      </p:sp>
      <p:sp>
        <p:nvSpPr>
          <p:cNvPr id="36" name="Text 28"/>
          <p:cNvSpPr txBox="1"/>
          <p:nvPr/>
        </p:nvSpPr>
        <p:spPr>
          <a:xfrm>
            <a:off x="548640" y="4754880"/>
            <a:ext cx="914400" cy="457200"/>
          </a:xfrm>
          <a:prstGeom prst="rect">
            <a:avLst/>
          </a:prstGeom>
          <a:noFill/>
          <a:ln/>
        </p:spPr>
        <p:txBody>
          <a:bodyPr wrap="square" lIns="0" tIns="0" rIns="0" bIns="0" rtlCol="0" anchor="ctr"/>
          <a:lstStyle/>
          <a:p>
            <a:pPr marL="0" indent="0" algn="ctr">
              <a:buNone/>
            </a:pPr>
            <a:r>
              <a:rPr lang="en-US" sz="1300" b="1" dirty="0">
                <a:solidFill>
                  <a:schemeClr val="bg1"/>
                </a:solidFill>
              </a:rPr>
              <a:t>original</a:t>
            </a:r>
            <a:endParaRPr lang="en-US" sz="1300" dirty="0"/>
          </a:p>
        </p:txBody>
      </p:sp>
      <p:sp>
        <p:nvSpPr>
          <p:cNvPr id="37" name="mode names"/>
          <p:cNvSpPr/>
          <p:nvPr/>
        </p:nvSpPr>
        <p:spPr>
          <a:xfrm>
            <a:off x="1600200" y="4754880"/>
            <a:ext cx="914400" cy="457200"/>
          </a:xfrm>
          <a:prstGeom prst="roundRect">
            <a:avLst>
              <a:gd name="adj" fmla="val 50000"/>
            </a:avLst>
          </a:prstGeom>
          <a:solidFill>
            <a:schemeClr val="tx2"/>
          </a:solidFill>
          <a:ln/>
        </p:spPr>
      </p:sp>
      <p:sp>
        <p:nvSpPr>
          <p:cNvPr id="38" name="Text 30"/>
          <p:cNvSpPr txBox="1"/>
          <p:nvPr/>
        </p:nvSpPr>
        <p:spPr>
          <a:xfrm>
            <a:off x="1600200" y="4754880"/>
            <a:ext cx="914400" cy="457200"/>
          </a:xfrm>
          <a:prstGeom prst="rect">
            <a:avLst/>
          </a:prstGeom>
          <a:noFill/>
          <a:ln/>
        </p:spPr>
        <p:txBody>
          <a:bodyPr wrap="square" lIns="0" tIns="0" rIns="0" bIns="0" rtlCol="0" anchor="ctr"/>
          <a:lstStyle/>
          <a:p>
            <a:pPr marL="0" indent="0" algn="ctr">
              <a:buNone/>
            </a:pPr>
            <a:r>
              <a:rPr lang="en-US" sz="1300" b="1" dirty="0">
                <a:solidFill>
                  <a:schemeClr val="bg1"/>
                </a:solidFill>
              </a:rPr>
              <a:t>names</a:t>
            </a:r>
            <a:endParaRPr lang="en-US" sz="1300" dirty="0"/>
          </a:p>
        </p:txBody>
      </p:sp>
      <p:sp>
        <p:nvSpPr>
          <p:cNvPr id="39" name="mode numbers"/>
          <p:cNvSpPr/>
          <p:nvPr/>
        </p:nvSpPr>
        <p:spPr>
          <a:xfrm>
            <a:off x="2651760" y="4754880"/>
            <a:ext cx="914400" cy="457200"/>
          </a:xfrm>
          <a:prstGeom prst="roundRect">
            <a:avLst>
              <a:gd name="adj" fmla="val 50000"/>
            </a:avLst>
          </a:prstGeom>
          <a:solidFill>
            <a:schemeClr val="tx2"/>
          </a:solidFill>
          <a:ln/>
        </p:spPr>
      </p:sp>
      <p:sp>
        <p:nvSpPr>
          <p:cNvPr id="40" name="Text 32"/>
          <p:cNvSpPr txBox="1"/>
          <p:nvPr/>
        </p:nvSpPr>
        <p:spPr>
          <a:xfrm>
            <a:off x="2651760" y="4754880"/>
            <a:ext cx="914400" cy="457200"/>
          </a:xfrm>
          <a:prstGeom prst="rect">
            <a:avLst/>
          </a:prstGeom>
          <a:noFill/>
          <a:ln/>
        </p:spPr>
        <p:txBody>
          <a:bodyPr wrap="square" lIns="0" tIns="0" rIns="0" bIns="0" rtlCol="0" anchor="ctr"/>
          <a:lstStyle/>
          <a:p>
            <a:pPr marL="0" indent="0" algn="ctr">
              <a:buNone/>
            </a:pPr>
            <a:r>
              <a:rPr lang="en-US" sz="1300" b="1" dirty="0">
                <a:solidFill>
                  <a:schemeClr val="bg1"/>
                </a:solidFill>
              </a:rPr>
              <a:t>numbers</a:t>
            </a:r>
            <a:endParaRPr lang="en-US" sz="1300" dirty="0"/>
          </a:p>
        </p:txBody>
      </p:sp>
      <p:sp>
        <p:nvSpPr>
          <p:cNvPr id="41" name="mode both"/>
          <p:cNvSpPr/>
          <p:nvPr/>
        </p:nvSpPr>
        <p:spPr>
          <a:xfrm>
            <a:off x="3703320" y="4754880"/>
            <a:ext cx="914400" cy="457200"/>
          </a:xfrm>
          <a:prstGeom prst="roundRect">
            <a:avLst>
              <a:gd name="adj" fmla="val 50000"/>
            </a:avLst>
          </a:prstGeom>
          <a:solidFill>
            <a:schemeClr val="tx2"/>
          </a:solidFill>
          <a:ln/>
        </p:spPr>
      </p:sp>
      <p:sp>
        <p:nvSpPr>
          <p:cNvPr id="42" name="Text 34"/>
          <p:cNvSpPr txBox="1"/>
          <p:nvPr/>
        </p:nvSpPr>
        <p:spPr>
          <a:xfrm>
            <a:off x="3703320" y="4754880"/>
            <a:ext cx="914400" cy="457200"/>
          </a:xfrm>
          <a:prstGeom prst="rect">
            <a:avLst/>
          </a:prstGeom>
          <a:noFill/>
          <a:ln/>
        </p:spPr>
        <p:txBody>
          <a:bodyPr wrap="square" lIns="0" tIns="0" rIns="0" bIns="0" rtlCol="0" anchor="ctr"/>
          <a:lstStyle/>
          <a:p>
            <a:pPr marL="0" indent="0" algn="ctr">
              <a:buNone/>
            </a:pPr>
            <a:r>
              <a:rPr lang="en-US" sz="1300" b="1" dirty="0">
                <a:solidFill>
                  <a:schemeClr val="bg1"/>
                </a:solidFill>
              </a:rPr>
              <a:t>both</a:t>
            </a:r>
            <a:endParaRPr lang="en-US" sz="1300" dirty="0"/>
          </a:p>
        </p:txBody>
      </p:sp>
      <p:sp>
        <p:nvSpPr>
          <p:cNvPr id="43" name="mode + NoOp"/>
          <p:cNvSpPr/>
          <p:nvPr/>
        </p:nvSpPr>
        <p:spPr>
          <a:xfrm>
            <a:off x="4754880" y="4754880"/>
            <a:ext cx="914400" cy="457200"/>
          </a:xfrm>
          <a:prstGeom prst="roundRect">
            <a:avLst>
              <a:gd name="adj" fmla="val 50000"/>
            </a:avLst>
          </a:prstGeom>
          <a:solidFill>
            <a:schemeClr val="accent3"/>
          </a:solidFill>
          <a:ln/>
        </p:spPr>
      </p:sp>
      <p:sp>
        <p:nvSpPr>
          <p:cNvPr id="44" name="Text 36"/>
          <p:cNvSpPr txBox="1"/>
          <p:nvPr/>
        </p:nvSpPr>
        <p:spPr>
          <a:xfrm>
            <a:off x="4754880" y="4754880"/>
            <a:ext cx="914400" cy="457200"/>
          </a:xfrm>
          <a:prstGeom prst="rect">
            <a:avLst/>
          </a:prstGeom>
          <a:noFill/>
          <a:ln/>
        </p:spPr>
        <p:txBody>
          <a:bodyPr wrap="square" lIns="0" tIns="0" rIns="0" bIns="0" rtlCol="0" anchor="ctr"/>
          <a:lstStyle/>
          <a:p>
            <a:pPr marL="0" indent="0" algn="ctr">
              <a:buNone/>
            </a:pPr>
            <a:r>
              <a:rPr lang="en-US" sz="1300" b="1" dirty="0">
                <a:solidFill>
                  <a:schemeClr val="bg1"/>
                </a:solidFill>
              </a:rPr>
              <a:t>+ NoOp</a:t>
            </a:r>
            <a:endParaRPr lang="en-US" sz="1300" dirty="0"/>
          </a:p>
        </p:txBody>
      </p:sp>
      <p:sp>
        <p:nvSpPr>
          <p:cNvPr id="45" name="Text 37"/>
          <p:cNvSpPr txBox="1"/>
          <p:nvPr/>
        </p:nvSpPr>
        <p:spPr>
          <a:xfrm>
            <a:off x="548640" y="5349240"/>
            <a:ext cx="5120640" cy="548640"/>
          </a:xfrm>
          <a:prstGeom prst="rect">
            <a:avLst/>
          </a:prstGeom>
          <a:noFill/>
          <a:ln/>
        </p:spPr>
        <p:txBody>
          <a:bodyPr wrap="square" lIns="0" tIns="0" rIns="0" bIns="0" rtlCol="0" anchor="t"/>
          <a:lstStyle/>
          <a:p>
            <a:pPr marL="0" indent="0">
              <a:buNone/>
            </a:pPr>
            <a:r>
              <a:rPr lang="en-US" sz="1400" dirty="0">
                <a:solidFill>
                  <a:schemeClr val="accent5"/>
                </a:solidFill>
              </a:rPr>
              <a:t>Only the chosen variables are resampled; the rest keep their GSM8K values.</a:t>
            </a:r>
            <a:endParaRPr lang="en-US" sz="1400" dirty="0"/>
          </a:p>
        </p:txBody>
      </p:sp>
      <p:sp>
        <p:nvSpPr>
          <p:cNvPr id="46" name="rejection card"/>
          <p:cNvSpPr/>
          <p:nvPr/>
        </p:nvSpPr>
        <p:spPr>
          <a:xfrm>
            <a:off x="6263640" y="4160520"/>
            <a:ext cx="5376672" cy="1874520"/>
          </a:xfrm>
          <a:prstGeom prst="roundRect">
            <a:avLst>
              <a:gd name="adj" fmla="val 5854"/>
            </a:avLst>
          </a:prstGeom>
          <a:solidFill>
            <a:schemeClr val="bg2"/>
          </a:solidFill>
          <a:ln/>
        </p:spPr>
      </p:sp>
      <p:sp>
        <p:nvSpPr>
          <p:cNvPr id="47" name="Text 39"/>
          <p:cNvSpPr txBox="1"/>
          <p:nvPr/>
        </p:nvSpPr>
        <p:spPr>
          <a:xfrm>
            <a:off x="6537960" y="4343400"/>
            <a:ext cx="4846320" cy="1554480"/>
          </a:xfrm>
          <a:prstGeom prst="rect">
            <a:avLst/>
          </a:prstGeom>
          <a:noFill/>
          <a:ln/>
        </p:spPr>
        <p:txBody>
          <a:bodyPr wrap="square" lIns="0" tIns="0" rIns="0" bIns="0" rtlCol="0" anchor="t"/>
          <a:lstStyle/>
          <a:p>
            <a:pPr marL="0" indent="0">
              <a:buNone/>
            </a:pPr>
            <a:r>
              <a:rPr lang="en-US" sz="1800" b="1" dirty="0">
                <a:solidFill>
                  <a:schemeClr val="tx2"/>
                </a:solidFill>
              </a:rPr>
              <a:t>Rejection sampling, the hard way</a:t>
            </a:r>
            <a:endParaRPr lang="en-US" sz="1500" dirty="0"/>
          </a:p>
          <a:p>
            <a:pPr marL="0" indent="0">
              <a:buNone/>
            </a:pPr>
            <a:r>
              <a:rPr lang="en-US" sz="1500" dirty="0">
                <a:solidFill>
                  <a:schemeClr val="tx1"/>
                </a:solidFill>
              </a:rPr>
              <a:t>Template 25 needs two percentages that both give whole students: only </a:t>
            </a:r>
            <a:r>
              <a:rPr lang="en-US" sz="1500" b="1" dirty="0">
                <a:solidFill>
                  <a:schemeClr val="accent3"/>
                </a:solidFill>
              </a:rPr>
              <a:t>0.13%</a:t>
            </a:r>
            <a:r>
              <a:rPr lang="en-US" sz="1500" dirty="0">
                <a:solidFill>
                  <a:schemeClr val="tx1"/>
                </a:solidFill>
              </a:rPr>
              <a:t> of draws pass. In the full run one seed failed 5,000 times, so the bench builder retries with a fresh seed.</a:t>
            </a:r>
            <a:endParaRPr lang="en-US" sz="1500" dirty="0"/>
          </a:p>
        </p:txBody>
      </p:sp>
      <p:sp>
        <p:nvSpPr>
          <p:cNvPr id="48"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The generator checks out</a:t>
            </a:r>
            <a:endParaRPr lang="en-US" sz="3600" dirty="0"/>
          </a:p>
        </p:txBody>
      </p:sp>
      <p:graphicFrame>
        <p:nvGraphicFramePr>
          <p:cNvPr id="3" name="coverage chart"/>
          <p:cNvGraphicFramePr/>
          <p:nvPr/>
        </p:nvGraphicFramePr>
        <p:xfrm>
          <a:off x="548640" y="1371600"/>
          <a:ext cx="658368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repro value"/>
          <p:cNvSpPr txBox="1"/>
          <p:nvPr/>
        </p:nvSpPr>
        <p:spPr>
          <a:xfrm>
            <a:off x="7635240" y="1463040"/>
            <a:ext cx="4023360" cy="868680"/>
          </a:xfrm>
          <a:prstGeom prst="rect">
            <a:avLst/>
          </a:prstGeom>
          <a:noFill/>
          <a:ln/>
        </p:spPr>
        <p:txBody>
          <a:bodyPr wrap="square" lIns="0" tIns="0" rIns="0" bIns="0" rtlCol="0" anchor="t"/>
          <a:lstStyle/>
          <a:p>
            <a:pPr marL="0" indent="0">
              <a:buNone/>
            </a:pPr>
            <a:r>
              <a:rPr lang="en-US" sz="4400" b="1" dirty="0">
                <a:solidFill>
                  <a:schemeClr val="accent1"/>
                </a:solidFill>
                <a:latin typeface="Cambria" pitchFamily="34" charset="0"/>
                <a:ea typeface="Cambria" pitchFamily="34" charset="-122"/>
                <a:cs typeface="Cambria" pitchFamily="34" charset="-120"/>
              </a:rPr>
              <a:t>79 / 100</a:t>
            </a:r>
            <a:endParaRPr lang="en-US" sz="4400" dirty="0"/>
          </a:p>
        </p:txBody>
      </p:sp>
      <p:sp>
        <p:nvSpPr>
          <p:cNvPr id="5" name="repro label"/>
          <p:cNvSpPr txBox="1"/>
          <p:nvPr/>
        </p:nvSpPr>
        <p:spPr>
          <a:xfrm>
            <a:off x="7635240" y="2359152"/>
            <a:ext cx="4023360" cy="640080"/>
          </a:xfrm>
          <a:prstGeom prst="rect">
            <a:avLst/>
          </a:prstGeom>
          <a:noFill/>
          <a:ln/>
        </p:spPr>
        <p:txBody>
          <a:bodyPr wrap="square" lIns="0" tIns="0" rIns="0" bIns="0" rtlCol="0" anchor="t"/>
          <a:lstStyle/>
          <a:p>
            <a:pPr marL="0" indent="0">
              <a:buNone/>
            </a:pPr>
            <a:r>
              <a:rPr lang="en-US" sz="1400" dirty="0">
                <a:solidFill>
                  <a:schemeClr val="accent5"/>
                </a:solidFill>
              </a:rPr>
              <a:t>Symbolic templates reproduce the exact GSM8K answer from the original numbers</a:t>
            </a:r>
            <a:endParaRPr lang="en-US" sz="1400" dirty="0"/>
          </a:p>
        </p:txBody>
      </p:sp>
      <p:sp>
        <p:nvSpPr>
          <p:cNvPr id="6" name="items value"/>
          <p:cNvSpPr txBox="1"/>
          <p:nvPr/>
        </p:nvSpPr>
        <p:spPr>
          <a:xfrm>
            <a:off x="7635240" y="3017520"/>
            <a:ext cx="4023360" cy="868680"/>
          </a:xfrm>
          <a:prstGeom prst="rect">
            <a:avLst/>
          </a:prstGeom>
          <a:noFill/>
          <a:ln/>
        </p:spPr>
        <p:txBody>
          <a:bodyPr wrap="square" lIns="0" tIns="0" rIns="0" bIns="0" rtlCol="0" anchor="t"/>
          <a:lstStyle/>
          <a:p>
            <a:pPr marL="0" indent="0">
              <a:buNone/>
            </a:pPr>
            <a:r>
              <a:rPr lang="en-US" sz="4400" b="1" dirty="0">
                <a:solidFill>
                  <a:schemeClr val="tx2"/>
                </a:solidFill>
                <a:latin typeface="Cambria" pitchFamily="34" charset="0"/>
                <a:ea typeface="Cambria" pitchFamily="34" charset="-122"/>
                <a:cs typeface="Cambria" pitchFamily="34" charset="-120"/>
              </a:rPr>
              <a:t>7,285</a:t>
            </a:r>
            <a:endParaRPr lang="en-US" sz="4400" dirty="0"/>
          </a:p>
        </p:txBody>
      </p:sp>
      <p:sp>
        <p:nvSpPr>
          <p:cNvPr id="7" name="items label"/>
          <p:cNvSpPr txBox="1"/>
          <p:nvPr/>
        </p:nvSpPr>
        <p:spPr>
          <a:xfrm>
            <a:off x="7635240" y="3913632"/>
            <a:ext cx="4023360" cy="640080"/>
          </a:xfrm>
          <a:prstGeom prst="rect">
            <a:avLst/>
          </a:prstGeom>
          <a:noFill/>
          <a:ln/>
        </p:spPr>
        <p:txBody>
          <a:bodyPr wrap="square" lIns="0" tIns="0" rIns="0" bIns="0" rtlCol="0" anchor="t"/>
          <a:lstStyle/>
          <a:p>
            <a:pPr marL="0" indent="0">
              <a:buNone/>
            </a:pPr>
            <a:r>
              <a:rPr lang="en-US" sz="1400" dirty="0">
                <a:solidFill>
                  <a:schemeClr val="accent5"/>
                </a:solidFill>
              </a:rPr>
              <a:t>questions per model in the full run (60 templates × 25 datasets for E1/E2)</a:t>
            </a:r>
            <a:endParaRPr lang="en-US" sz="1400" dirty="0"/>
          </a:p>
        </p:txBody>
      </p:sp>
      <p:sp>
        <p:nvSpPr>
          <p:cNvPr id="8" name="models value"/>
          <p:cNvSpPr txBox="1"/>
          <p:nvPr/>
        </p:nvSpPr>
        <p:spPr>
          <a:xfrm>
            <a:off x="7635240" y="4572000"/>
            <a:ext cx="4023360" cy="86868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2 models</a:t>
            </a:r>
            <a:endParaRPr lang="en-US" sz="4400" dirty="0"/>
          </a:p>
        </p:txBody>
      </p:sp>
      <p:sp>
        <p:nvSpPr>
          <p:cNvPr id="9" name="models label"/>
          <p:cNvSpPr txBox="1"/>
          <p:nvPr/>
        </p:nvSpPr>
        <p:spPr>
          <a:xfrm>
            <a:off x="7635240" y="5468112"/>
            <a:ext cx="4023360" cy="640080"/>
          </a:xfrm>
          <a:prstGeom prst="rect">
            <a:avLst/>
          </a:prstGeom>
          <a:noFill/>
          <a:ln/>
        </p:spPr>
        <p:txBody>
          <a:bodyPr wrap="square" lIns="0" tIns="0" rIns="0" bIns="0" rtlCol="0" anchor="t"/>
          <a:lstStyle/>
          <a:p>
            <a:pPr marL="0" indent="0">
              <a:buNone/>
            </a:pPr>
            <a:r>
              <a:rPr lang="en-US" sz="1400" dirty="0">
                <a:solidFill>
                  <a:schemeClr val="accent5"/>
                </a:solidFill>
              </a:rPr>
              <a:t>Qwen2.5-0.5B &amp; 1.5B Instruct, 8-shot CoT, free Colab T4</a:t>
            </a:r>
            <a:endParaRPr lang="en-US" sz="14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Numbers hurt more than names</a:t>
            </a:r>
            <a:endParaRPr lang="en-US" sz="3600" dirty="0"/>
          </a:p>
        </p:txBody>
      </p:sp>
      <p:graphicFrame>
        <p:nvGraphicFramePr>
          <p:cNvPr id="3" name="E1 E2 chart"/>
          <p:cNvGraphicFramePr/>
          <p:nvPr/>
        </p:nvGraphicFramePr>
        <p:xfrm>
          <a:off x="548640" y="137160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7909560" y="1554480"/>
            <a:ext cx="3730752" cy="1143000"/>
          </a:xfrm>
          <a:prstGeom prst="rect">
            <a:avLst/>
          </a:prstGeom>
          <a:noFill/>
          <a:ln/>
        </p:spPr>
        <p:txBody>
          <a:bodyPr wrap="square" lIns="0" tIns="0" rIns="0" bIns="0" rtlCol="0" anchor="t"/>
          <a:lstStyle/>
          <a:p>
            <a:pPr marL="0" indent="0">
              <a:buNone/>
            </a:pPr>
            <a:r>
              <a:rPr lang="en-US" sz="1800" b="1" dirty="0">
                <a:solidFill>
                  <a:schemeClr val="tx2"/>
                </a:solidFill>
              </a:rPr>
              <a:t>Names only</a:t>
            </a:r>
            <a:endParaRPr lang="en-US" sz="1800" dirty="0"/>
          </a:p>
          <a:p>
            <a:pPr marL="0" indent="0">
              <a:buNone/>
            </a:pPr>
            <a:r>
              <a:rPr lang="en-US" sz="1500" dirty="0">
                <a:solidFill>
                  <a:schemeClr val="tx1"/>
                </a:solidFill>
              </a:rPr>
              <a:t>No drop at all. The 1.5B model even goes up (70.5% vs 66.7%).</a:t>
            </a:r>
            <a:endParaRPr lang="en-US" sz="1800" dirty="0"/>
          </a:p>
        </p:txBody>
      </p:sp>
      <p:sp>
        <p:nvSpPr>
          <p:cNvPr id="5" name="Text 2"/>
          <p:cNvSpPr txBox="1"/>
          <p:nvPr/>
        </p:nvSpPr>
        <p:spPr>
          <a:xfrm>
            <a:off x="7909560" y="2880360"/>
            <a:ext cx="3730752" cy="1143000"/>
          </a:xfrm>
          <a:prstGeom prst="rect">
            <a:avLst/>
          </a:prstGeom>
          <a:noFill/>
          <a:ln/>
        </p:spPr>
        <p:txBody>
          <a:bodyPr wrap="square" lIns="0" tIns="0" rIns="0" bIns="0" rtlCol="0" anchor="t"/>
          <a:lstStyle/>
          <a:p>
            <a:pPr marL="0" indent="0">
              <a:buNone/>
            </a:pPr>
            <a:r>
              <a:rPr lang="en-US" sz="1800" b="1" dirty="0">
                <a:solidFill>
                  <a:schemeClr val="tx2"/>
                </a:solidFill>
              </a:rPr>
              <a:t>Numbers only</a:t>
            </a:r>
            <a:endParaRPr lang="en-US" sz="1800" dirty="0"/>
          </a:p>
          <a:p>
            <a:pPr marL="0" indent="0">
              <a:buNone/>
            </a:pPr>
            <a:r>
              <a:rPr lang="en-US" sz="1500" dirty="0">
                <a:solidFill>
                  <a:schemeClr val="tx1"/>
                </a:solidFill>
              </a:rPr>
              <a:t>6–7 points below names-only for both models, matching the paper's ordering.</a:t>
            </a:r>
            <a:endParaRPr lang="en-US" sz="1800" dirty="0"/>
          </a:p>
        </p:txBody>
      </p:sp>
      <p:sp>
        <p:nvSpPr>
          <p:cNvPr id="6" name="Text 3"/>
          <p:cNvSpPr txBox="1"/>
          <p:nvPr/>
        </p:nvSpPr>
        <p:spPr>
          <a:xfrm>
            <a:off x="7909560" y="4206240"/>
            <a:ext cx="3730752" cy="1143000"/>
          </a:xfrm>
          <a:prstGeom prst="rect">
            <a:avLst/>
          </a:prstGeom>
          <a:noFill/>
          <a:ln/>
        </p:spPr>
        <p:txBody>
          <a:bodyPr wrap="square" lIns="0" tIns="0" rIns="0" bIns="0" rtlCol="0" anchor="t"/>
          <a:lstStyle/>
          <a:p>
            <a:pPr marL="0" indent="0">
              <a:buNone/>
            </a:pPr>
            <a:r>
              <a:rPr lang="en-US" sz="1800" b="1" dirty="0">
                <a:solidFill>
                  <a:schemeClr val="tx2"/>
                </a:solidFill>
              </a:rPr>
              <a:t>Original → both</a:t>
            </a:r>
            <a:endParaRPr lang="en-US" sz="1800" dirty="0"/>
          </a:p>
          <a:p>
            <a:pPr marL="0" indent="0">
              <a:buNone/>
            </a:pPr>
            <a:r>
              <a:rPr lang="en-US" sz="1500" dirty="0">
                <a:solidFill>
                  <a:schemeClr val="tx1"/>
                </a:solidFill>
              </a:rPr>
              <a:t>About −5 / −2 points. Is that real? See the stress test.</a:t>
            </a:r>
            <a:endParaRPr lang="en-US" sz="1800" dirty="0"/>
          </a:p>
        </p:txBody>
      </p:sp>
      <p:sp>
        <p:nvSpPr>
          <p:cNvPr id="7" name="Text 4"/>
          <p:cNvSpPr txBox="1"/>
          <p:nvPr/>
        </p:nvSpPr>
        <p:spPr>
          <a:xfrm>
            <a:off x="7909560" y="5577840"/>
            <a:ext cx="3730752" cy="365760"/>
          </a:xfrm>
          <a:prstGeom prst="rect">
            <a:avLst/>
          </a:prstGeom>
          <a:noFill/>
          <a:ln/>
        </p:spPr>
        <p:txBody>
          <a:bodyPr wrap="square" lIns="0" tIns="0" rIns="0" bIns="0" rtlCol="0" anchor="t"/>
          <a:lstStyle/>
          <a:p>
            <a:pPr marL="0" indent="0">
              <a:buNone/>
            </a:pPr>
            <a:r>
              <a:rPr lang="en-US" sz="1200" i="1" dirty="0">
                <a:solidFill>
                  <a:schemeClr val="accent5"/>
                </a:solidFill>
              </a:rPr>
              <a:t>“Original” is only 60 questions (SE ≈ 6 pts).</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Each extra clause cuts accuracy</a:t>
            </a:r>
            <a:endParaRPr lang="en-US" sz="3600" dirty="0"/>
          </a:p>
        </p:txBody>
      </p:sp>
      <p:graphicFrame>
        <p:nvGraphicFramePr>
          <p:cNvPr id="3" name="E3 chart"/>
          <p:cNvGraphicFramePr/>
          <p:nvPr/>
        </p:nvGraphicFramePr>
        <p:xfrm>
          <a:off x="548640" y="137160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e3 big value"/>
          <p:cNvSpPr txBox="1"/>
          <p:nvPr/>
        </p:nvSpPr>
        <p:spPr>
          <a:xfrm>
            <a:off x="7909560" y="1463040"/>
            <a:ext cx="3730752" cy="868680"/>
          </a:xfrm>
          <a:prstGeom prst="rect">
            <a:avLst/>
          </a:prstGeom>
          <a:noFill/>
          <a:ln/>
        </p:spPr>
        <p:txBody>
          <a:bodyPr wrap="square" lIns="0" tIns="0" rIns="0" bIns="0" rtlCol="0" anchor="t"/>
          <a:lstStyle/>
          <a:p>
            <a:pPr marL="0" indent="0">
              <a:buNone/>
            </a:pPr>
            <a:r>
              <a:rPr lang="en-US" sz="4400" b="1" dirty="0">
                <a:solidFill>
                  <a:schemeClr val="accent1"/>
                </a:solidFill>
                <a:latin typeface="Cambria" pitchFamily="34" charset="0"/>
                <a:ea typeface="Cambria" pitchFamily="34" charset="-122"/>
                <a:cs typeface="Cambria" pitchFamily="34" charset="-120"/>
              </a:rPr>
              <a:t>65% → 22%</a:t>
            </a:r>
            <a:endParaRPr lang="en-US" sz="4400" dirty="0"/>
          </a:p>
        </p:txBody>
      </p:sp>
      <p:sp>
        <p:nvSpPr>
          <p:cNvPr id="5" name="e3 big label"/>
          <p:cNvSpPr txBox="1"/>
          <p:nvPr/>
        </p:nvSpPr>
        <p:spPr>
          <a:xfrm>
            <a:off x="7909560" y="2359152"/>
            <a:ext cx="3730752" cy="640080"/>
          </a:xfrm>
          <a:prstGeom prst="rect">
            <a:avLst/>
          </a:prstGeom>
          <a:noFill/>
          <a:ln/>
        </p:spPr>
        <p:txBody>
          <a:bodyPr wrap="square" lIns="0" tIns="0" rIns="0" bIns="0" rtlCol="0" anchor="t"/>
          <a:lstStyle/>
          <a:p>
            <a:pPr marL="0" indent="0">
              <a:buNone/>
            </a:pPr>
            <a:r>
              <a:rPr lang="en-US" sz="1400" dirty="0">
                <a:solidFill>
                  <a:schemeClr val="accent5"/>
                </a:solidFill>
              </a:rPr>
              <a:t>Qwen2.5-1.5B, Symbolic to P2</a:t>
            </a:r>
            <a:endParaRPr lang="en-US" sz="1400" dirty="0"/>
          </a:p>
        </p:txBody>
      </p:sp>
      <p:sp>
        <p:nvSpPr>
          <p:cNvPr id="6" name="e3 small value"/>
          <p:cNvSpPr txBox="1"/>
          <p:nvPr/>
        </p:nvSpPr>
        <p:spPr>
          <a:xfrm>
            <a:off x="7909560" y="3017520"/>
            <a:ext cx="3730752" cy="868680"/>
          </a:xfrm>
          <a:prstGeom prst="rect">
            <a:avLst/>
          </a:prstGeom>
          <a:noFill/>
          <a:ln/>
        </p:spPr>
        <p:txBody>
          <a:bodyPr wrap="square" lIns="0" tIns="0" rIns="0" bIns="0" rtlCol="0" anchor="t"/>
          <a:lstStyle/>
          <a:p>
            <a:pPr marL="0" indent="0">
              <a:buNone/>
            </a:pPr>
            <a:r>
              <a:rPr lang="en-US" sz="4400" b="1" dirty="0">
                <a:solidFill>
                  <a:schemeClr val="accent2"/>
                </a:solidFill>
                <a:latin typeface="Cambria" pitchFamily="34" charset="0"/>
                <a:ea typeface="Cambria" pitchFamily="34" charset="-122"/>
                <a:cs typeface="Cambria" pitchFamily="34" charset="-120"/>
              </a:rPr>
              <a:t>35% → 9%</a:t>
            </a:r>
            <a:endParaRPr lang="en-US" sz="4400" dirty="0"/>
          </a:p>
        </p:txBody>
      </p:sp>
      <p:sp>
        <p:nvSpPr>
          <p:cNvPr id="7" name="e3 small label"/>
          <p:cNvSpPr txBox="1"/>
          <p:nvPr/>
        </p:nvSpPr>
        <p:spPr>
          <a:xfrm>
            <a:off x="7909560" y="3913632"/>
            <a:ext cx="3730752" cy="640080"/>
          </a:xfrm>
          <a:prstGeom prst="rect">
            <a:avLst/>
          </a:prstGeom>
          <a:noFill/>
          <a:ln/>
        </p:spPr>
        <p:txBody>
          <a:bodyPr wrap="square" lIns="0" tIns="0" rIns="0" bIns="0" rtlCol="0" anchor="t"/>
          <a:lstStyle/>
          <a:p>
            <a:pPr marL="0" indent="0">
              <a:buNone/>
            </a:pPr>
            <a:r>
              <a:rPr lang="en-US" sz="1400" dirty="0">
                <a:solidFill>
                  <a:schemeClr val="accent5"/>
                </a:solidFill>
              </a:rPr>
              <a:t>Qwen2.5-0.5B, Symbolic to P2</a:t>
            </a:r>
            <a:endParaRPr lang="en-US" sz="1400" dirty="0"/>
          </a:p>
        </p:txBody>
      </p:sp>
      <p:sp>
        <p:nvSpPr>
          <p:cNvPr id="8" name="Text 5"/>
          <p:cNvSpPr txBox="1"/>
          <p:nvPr/>
        </p:nvSpPr>
        <p:spPr>
          <a:xfrm>
            <a:off x="7909560" y="4617720"/>
            <a:ext cx="3730752" cy="1371600"/>
          </a:xfrm>
          <a:prstGeom prst="rect">
            <a:avLst/>
          </a:prstGeom>
          <a:noFill/>
          <a:ln/>
        </p:spPr>
        <p:txBody>
          <a:bodyPr wrap="square" lIns="0" tIns="0" rIns="0" bIns="0" rtlCol="0" anchor="t"/>
          <a:lstStyle/>
          <a:p>
            <a:pPr marL="0" indent="0">
              <a:buNone/>
            </a:pPr>
            <a:r>
              <a:rPr lang="en-US" sz="1500" dirty="0">
                <a:solidFill>
                  <a:schemeClr val="tx1"/>
                </a:solidFill>
              </a:rPr>
              <a:t>The bigger model is more accurate, but barely more robust: two clauses leave about a third (1.5B) and a quarter (0.5B) of its accuracy.</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An irrelevant sentence costs 53 points</a:t>
            </a:r>
            <a:endParaRPr lang="en-US" sz="3600" dirty="0"/>
          </a:p>
        </p:txBody>
      </p:sp>
      <p:graphicFrame>
        <p:nvGraphicFramePr>
          <p:cNvPr id="3" name="E4 chart"/>
          <p:cNvGraphicFramePr/>
          <p:nvPr/>
        </p:nvGraphicFramePr>
        <p:xfrm>
          <a:off x="548640" y="137160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4" name="e4 big value"/>
          <p:cNvSpPr txBox="1"/>
          <p:nvPr/>
        </p:nvSpPr>
        <p:spPr>
          <a:xfrm>
            <a:off x="7909560" y="1463040"/>
            <a:ext cx="3730752" cy="868680"/>
          </a:xfrm>
          <a:prstGeom prst="rect">
            <a:avLst/>
          </a:prstGeom>
          <a:noFill/>
          <a:ln/>
        </p:spPr>
        <p:txBody>
          <a:bodyPr wrap="square" lIns="0" tIns="0" rIns="0" bIns="0" rtlCol="0" anchor="t"/>
          <a:lstStyle/>
          <a:p>
            <a:pPr marL="0" indent="0">
              <a:buNone/>
            </a:pPr>
            <a:r>
              <a:rPr lang="en-US" sz="5400" b="1" dirty="0">
                <a:solidFill>
                  <a:schemeClr val="accent3"/>
                </a:solidFill>
                <a:latin typeface="Cambria" pitchFamily="34" charset="0"/>
                <a:ea typeface="Cambria" pitchFamily="34" charset="-122"/>
                <a:cs typeface="Cambria" pitchFamily="34" charset="-120"/>
              </a:rPr>
              <a:t>−53 pts</a:t>
            </a:r>
            <a:endParaRPr lang="en-US" sz="5400" dirty="0"/>
          </a:p>
        </p:txBody>
      </p:sp>
      <p:sp>
        <p:nvSpPr>
          <p:cNvPr id="5" name="e4 big label"/>
          <p:cNvSpPr txBox="1"/>
          <p:nvPr/>
        </p:nvSpPr>
        <p:spPr>
          <a:xfrm>
            <a:off x="7909560" y="2359152"/>
            <a:ext cx="3730752" cy="640080"/>
          </a:xfrm>
          <a:prstGeom prst="rect">
            <a:avLst/>
          </a:prstGeom>
          <a:noFill/>
          <a:ln/>
        </p:spPr>
        <p:txBody>
          <a:bodyPr wrap="square" lIns="0" tIns="0" rIns="0" bIns="0" rtlCol="0" anchor="t"/>
          <a:lstStyle/>
          <a:p>
            <a:pPr marL="0" indent="0">
              <a:buNone/>
            </a:pPr>
            <a:r>
              <a:rPr lang="en-US" sz="1400" dirty="0">
                <a:solidFill>
                  <a:schemeClr val="accent5"/>
                </a:solidFill>
              </a:rPr>
              <a:t>Qwen2.5-1.5B: 85.1% → 31.7%</a:t>
            </a:r>
            <a:endParaRPr lang="en-US" sz="1400" dirty="0"/>
          </a:p>
        </p:txBody>
      </p:sp>
      <p:sp>
        <p:nvSpPr>
          <p:cNvPr id="6" name="e4 small value"/>
          <p:cNvSpPr txBox="1"/>
          <p:nvPr/>
        </p:nvSpPr>
        <p:spPr>
          <a:xfrm>
            <a:off x="7909560" y="3017520"/>
            <a:ext cx="3730752" cy="868680"/>
          </a:xfrm>
          <a:prstGeom prst="rect">
            <a:avLst/>
          </a:prstGeom>
          <a:noFill/>
          <a:ln/>
        </p:spPr>
        <p:txBody>
          <a:bodyPr wrap="square" lIns="0" tIns="0" rIns="0" bIns="0" rtlCol="0" anchor="t"/>
          <a:lstStyle/>
          <a:p>
            <a:pPr marL="0" indent="0">
              <a:buNone/>
            </a:pPr>
            <a:r>
              <a:rPr lang="en-US" sz="5400" b="1" dirty="0">
                <a:solidFill>
                  <a:schemeClr val="accent3"/>
                </a:solidFill>
                <a:latin typeface="Cambria" pitchFamily="34" charset="0"/>
                <a:ea typeface="Cambria" pitchFamily="34" charset="-122"/>
                <a:cs typeface="Cambria" pitchFamily="34" charset="-120"/>
              </a:rPr>
              <a:t>−28 pts</a:t>
            </a:r>
            <a:endParaRPr lang="en-US" sz="5400" dirty="0"/>
          </a:p>
        </p:txBody>
      </p:sp>
      <p:sp>
        <p:nvSpPr>
          <p:cNvPr id="7" name="e4 small label"/>
          <p:cNvSpPr txBox="1"/>
          <p:nvPr/>
        </p:nvSpPr>
        <p:spPr>
          <a:xfrm>
            <a:off x="7909560" y="3913632"/>
            <a:ext cx="3730752" cy="640080"/>
          </a:xfrm>
          <a:prstGeom prst="rect">
            <a:avLst/>
          </a:prstGeom>
          <a:noFill/>
          <a:ln/>
        </p:spPr>
        <p:txBody>
          <a:bodyPr wrap="square" lIns="0" tIns="0" rIns="0" bIns="0" rtlCol="0" anchor="t"/>
          <a:lstStyle/>
          <a:p>
            <a:pPr marL="0" indent="0">
              <a:buNone/>
            </a:pPr>
            <a:r>
              <a:rPr lang="en-US" sz="1400" dirty="0">
                <a:solidFill>
                  <a:schemeClr val="accent5"/>
                </a:solidFill>
              </a:rPr>
              <a:t>Qwen2.5-0.5B: 46.0% → 18.0%</a:t>
            </a:r>
            <a:endParaRPr lang="en-US" sz="1400" dirty="0"/>
          </a:p>
        </p:txBody>
      </p:sp>
      <p:sp>
        <p:nvSpPr>
          <p:cNvPr id="8" name="Text 5"/>
          <p:cNvSpPr txBox="1"/>
          <p:nvPr/>
        </p:nvSpPr>
        <p:spPr>
          <a:xfrm>
            <a:off x="7909560" y="4617720"/>
            <a:ext cx="3730752" cy="1371600"/>
          </a:xfrm>
          <a:prstGeom prst="rect">
            <a:avLst/>
          </a:prstGeom>
          <a:noFill/>
          <a:ln/>
        </p:spPr>
        <p:txBody>
          <a:bodyPr wrap="square" lIns="0" tIns="0" rIns="0" bIns="0" rtlCol="0" anchor="t"/>
          <a:lstStyle/>
          <a:p>
            <a:pPr marL="0" indent="0">
              <a:buNone/>
            </a:pPr>
            <a:r>
              <a:rPr lang="en-US" sz="1500" b="1" dirty="0">
                <a:solidFill>
                  <a:schemeClr val="tx1"/>
                </a:solidFill>
              </a:rPr>
              <a:t>Paired: </a:t>
            </a:r>
            <a:r>
              <a:rPr lang="en-US" sz="1500" dirty="0">
                <a:solidFill>
                  <a:schemeClr val="tx1"/>
                </a:solidFill>
              </a:rPr>
              <a:t>the same question with and without the sentence, so not noise. Base is high because the 14 NoOp templates happen to be easier ones.</a:t>
            </a:r>
            <a:endParaRPr lang="en-US" sz="15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The spread is mostly sampling noise</a:t>
            </a:r>
            <a:endParaRPr lang="en-US" sz="3600" dirty="0"/>
          </a:p>
        </p:txBody>
      </p:sp>
      <p:graphicFrame>
        <p:nvGraphicFramePr>
          <p:cNvPr id="3" name="noise chart"/>
          <p:cNvGraphicFramePr/>
          <p:nvPr/>
        </p:nvGraphicFramePr>
        <p:xfrm>
          <a:off x="548640" y="1371600"/>
          <a:ext cx="548640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1"/>
          <p:cNvSpPr txBox="1"/>
          <p:nvPr/>
        </p:nvSpPr>
        <p:spPr>
          <a:xfrm>
            <a:off x="6492240" y="1463040"/>
            <a:ext cx="5148072" cy="411480"/>
          </a:xfrm>
          <a:prstGeom prst="rect">
            <a:avLst/>
          </a:prstGeom>
          <a:noFill/>
          <a:ln/>
        </p:spPr>
        <p:txBody>
          <a:bodyPr wrap="square" lIns="0" tIns="0" rIns="0" bIns="0" rtlCol="0" anchor="t"/>
          <a:lstStyle/>
          <a:p>
            <a:pPr marL="0" indent="0">
              <a:buNone/>
            </a:pPr>
            <a:r>
              <a:rPr lang="en-US" sz="1800" b="1" dirty="0">
                <a:solidFill>
                  <a:schemeClr val="tx2"/>
                </a:solidFill>
              </a:rPr>
              <a:t>Is the original → symbolic drop significant?</a:t>
            </a:r>
            <a:endParaRPr lang="en-US" sz="1800" dirty="0"/>
          </a:p>
        </p:txBody>
      </p:sp>
      <p:graphicFrame>
        <p:nvGraphicFramePr>
          <p:cNvPr id="14" name="bootstrap table"/>
          <p:cNvGraphicFramePr>
            <a:graphicFrameLocks noGrp="1"/>
          </p:cNvGraphicFramePr>
          <p:nvPr>
            <p:extLst>
              <p:ext uri="{D42A27DB-BD31-4B8C-83A1-F6EECF244321}">
                <p14:modId xmlns:p14="http://schemas.microsoft.com/office/powerpoint/2010/main" val="1579011935"/>
              </p:ext>
            </p:extLst>
          </p:nvPr>
        </p:nvGraphicFramePr>
        <p:xfrm>
          <a:off x="6492240" y="2011680"/>
          <a:ext cx="5148072" cy="914400"/>
        </p:xfrm>
        <a:graphic>
          <a:graphicData uri="http://schemas.openxmlformats.org/drawingml/2006/table">
            <a:tbl>
              <a:tblPr/>
              <a:tblGrid>
                <a:gridCol w="1005840"/>
                <a:gridCol w="1234440"/>
                <a:gridCol w="1627632"/>
                <a:gridCol w="1280160"/>
              </a:tblGrid>
              <a:tr h="502920">
                <a:tc>
                  <a:txBody>
                    <a:bodyPr/>
                    <a:lstStyle/>
                    <a:p>
                      <a:pPr marL="0" indent="0">
                        <a:buNone/>
                      </a:pPr>
                      <a:r>
                        <a:rPr lang="en-US" sz="1500" b="1" dirty="0">
                          <a:solidFill>
                            <a:schemeClr val="bg1"/>
                          </a:solidFill>
                        </a:rPr>
                        <a:t>Model</a:t>
                      </a:r>
                      <a:endParaRPr lang="en-US" sz="1500" dirty="0"/>
                    </a:p>
                  </a:txBody>
                  <a:tcPr anchor="ctr">
                    <a:lnL w="9525" cap="flat" cmpd="sng" algn="ctr">
                      <a:solidFill>
                        <a:srgbClr val="C9D8D2"/>
                      </a:solidFill>
                      <a:prstDash val="solid"/>
                      <a:round/>
                      <a:headEnd type="none" w="med" len="med"/>
                      <a:tailEnd type="none" w="med" len="med"/>
                    </a:lnL>
                    <a:lnR w="9525" cap="flat" cmpd="sng" algn="ctr">
                      <a:solidFill>
                        <a:srgbClr val="C9D8D2"/>
                      </a:solidFill>
                      <a:prstDash val="solid"/>
                      <a:round/>
                      <a:headEnd type="none" w="med" len="med"/>
                      <a:tailEnd type="none" w="med" len="med"/>
                    </a:lnR>
                    <a:lnT w="9525" cap="flat" cmpd="sng" algn="ctr">
                      <a:solidFill>
                        <a:srgbClr val="C9D8D2"/>
                      </a:solidFill>
                      <a:prstDash val="solid"/>
                      <a:round/>
                      <a:headEnd type="none" w="med" len="med"/>
                      <a:tailEnd type="none" w="med" len="med"/>
                    </a:lnT>
                    <a:lnB w="9525" cap="flat" cmpd="sng" algn="ctr">
                      <a:solidFill>
                        <a:srgbClr val="C9D8D2"/>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Drop (pts)</a:t>
                      </a:r>
                      <a:endParaRPr lang="en-US" sz="1500" dirty="0"/>
                    </a:p>
                  </a:txBody>
                  <a:tcPr anchor="ctr">
                    <a:lnL w="9525" cap="flat" cmpd="sng" algn="ctr">
                      <a:solidFill>
                        <a:srgbClr val="C9D8D2"/>
                      </a:solidFill>
                      <a:prstDash val="solid"/>
                      <a:round/>
                      <a:headEnd type="none" w="med" len="med"/>
                      <a:tailEnd type="none" w="med" len="med"/>
                    </a:lnL>
                    <a:lnR w="9525" cap="flat" cmpd="sng" algn="ctr">
                      <a:solidFill>
                        <a:srgbClr val="C9D8D2"/>
                      </a:solidFill>
                      <a:prstDash val="solid"/>
                      <a:round/>
                      <a:headEnd type="none" w="med" len="med"/>
                      <a:tailEnd type="none" w="med" len="med"/>
                    </a:lnR>
                    <a:lnT w="9525" cap="flat" cmpd="sng" algn="ctr">
                      <a:solidFill>
                        <a:srgbClr val="C9D8D2"/>
                      </a:solidFill>
                      <a:prstDash val="solid"/>
                      <a:round/>
                      <a:headEnd type="none" w="med" len="med"/>
                      <a:tailEnd type="none" w="med" len="med"/>
                    </a:lnT>
                    <a:lnB w="9525" cap="flat" cmpd="sng" algn="ctr">
                      <a:solidFill>
                        <a:srgbClr val="C9D8D2"/>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95% CI</a:t>
                      </a:r>
                      <a:endParaRPr lang="en-US" sz="1500" dirty="0"/>
                    </a:p>
                  </a:txBody>
                  <a:tcPr anchor="ctr">
                    <a:lnL w="9525" cap="flat" cmpd="sng" algn="ctr">
                      <a:solidFill>
                        <a:srgbClr val="C9D8D2"/>
                      </a:solidFill>
                      <a:prstDash val="solid"/>
                      <a:round/>
                      <a:headEnd type="none" w="med" len="med"/>
                      <a:tailEnd type="none" w="med" len="med"/>
                    </a:lnL>
                    <a:lnR w="9525" cap="flat" cmpd="sng" algn="ctr">
                      <a:solidFill>
                        <a:srgbClr val="C9D8D2"/>
                      </a:solidFill>
                      <a:prstDash val="solid"/>
                      <a:round/>
                      <a:headEnd type="none" w="med" len="med"/>
                      <a:tailEnd type="none" w="med" len="med"/>
                    </a:lnR>
                    <a:lnT w="9525" cap="flat" cmpd="sng" algn="ctr">
                      <a:solidFill>
                        <a:srgbClr val="C9D8D2"/>
                      </a:solidFill>
                      <a:prstDash val="solid"/>
                      <a:round/>
                      <a:headEnd type="none" w="med" len="med"/>
                      <a:tailEnd type="none" w="med" len="med"/>
                    </a:lnT>
                    <a:lnB w="9525" cap="flat" cmpd="sng" algn="ctr">
                      <a:solidFill>
                        <a:srgbClr val="C9D8D2"/>
                      </a:solidFill>
                      <a:prstDash val="solid"/>
                      <a:round/>
                      <a:headEnd type="none" w="med" len="med"/>
                      <a:tailEnd type="none" w="med" len="med"/>
                    </a:lnB>
                    <a:solidFill>
                      <a:schemeClr val="tx2"/>
                    </a:solidFill>
                  </a:tcPr>
                </a:tc>
                <a:tc>
                  <a:txBody>
                    <a:bodyPr/>
                    <a:lstStyle/>
                    <a:p>
                      <a:pPr marL="0" indent="0">
                        <a:buNone/>
                      </a:pPr>
                      <a:r>
                        <a:rPr lang="en-US" sz="1500" b="1" dirty="0">
                          <a:solidFill>
                            <a:schemeClr val="bg1"/>
                          </a:solidFill>
                        </a:rPr>
                        <a:t>Significant?</a:t>
                      </a:r>
                      <a:endParaRPr lang="en-US" sz="1500" dirty="0"/>
                    </a:p>
                  </a:txBody>
                  <a:tcPr anchor="ctr">
                    <a:lnL w="9525" cap="flat" cmpd="sng" algn="ctr">
                      <a:solidFill>
                        <a:srgbClr val="C9D8D2"/>
                      </a:solidFill>
                      <a:prstDash val="solid"/>
                      <a:round/>
                      <a:headEnd type="none" w="med" len="med"/>
                      <a:tailEnd type="none" w="med" len="med"/>
                    </a:lnL>
                    <a:lnR w="9525" cap="flat" cmpd="sng" algn="ctr">
                      <a:solidFill>
                        <a:srgbClr val="C9D8D2"/>
                      </a:solidFill>
                      <a:prstDash val="solid"/>
                      <a:round/>
                      <a:headEnd type="none" w="med" len="med"/>
                      <a:tailEnd type="none" w="med" len="med"/>
                    </a:lnR>
                    <a:lnT w="9525" cap="flat" cmpd="sng" algn="ctr">
                      <a:solidFill>
                        <a:srgbClr val="C9D8D2"/>
                      </a:solidFill>
                      <a:prstDash val="solid"/>
                      <a:round/>
                      <a:headEnd type="none" w="med" len="med"/>
                      <a:tailEnd type="none" w="med" len="med"/>
                    </a:lnT>
                    <a:lnB w="9525" cap="flat" cmpd="sng" algn="ctr">
                      <a:solidFill>
                        <a:srgbClr val="C9D8D2"/>
                      </a:solidFill>
                      <a:prstDash val="solid"/>
                      <a:round/>
                      <a:headEnd type="none" w="med" len="med"/>
                      <a:tailEnd type="none" w="med" len="med"/>
                    </a:lnB>
                    <a:solidFill>
                      <a:schemeClr val="tx2"/>
                    </a:solidFill>
                  </a:tcPr>
                </a:tc>
              </a:tr>
              <a:tr h="502920">
                <a:tc>
                  <a:txBody>
                    <a:bodyPr/>
                    <a:lstStyle/>
                    <a:p>
                      <a:pPr marL="0" indent="0">
                        <a:buNone/>
                      </a:pPr>
                      <a:r>
                        <a:rPr lang="en-US" sz="1500" dirty="0">
                          <a:solidFill>
                            <a:schemeClr val="tx1"/>
                          </a:solidFill>
                        </a:rPr>
                        <a:t>0.5B</a:t>
                      </a:r>
                      <a:endParaRPr lang="en-US" sz="1500" dirty="0"/>
                    </a:p>
                  </a:txBody>
                  <a:tcPr anchor="ctr">
                    <a:lnL w="9525" cap="flat" cmpd="sng" algn="ctr">
                      <a:solidFill>
                        <a:srgbClr val="C9D8D2"/>
                      </a:solidFill>
                      <a:prstDash val="solid"/>
                      <a:round/>
                      <a:headEnd type="none" w="med" len="med"/>
                      <a:tailEnd type="none" w="med" len="med"/>
                    </a:lnL>
                    <a:lnR w="9525" cap="flat" cmpd="sng" algn="ctr">
                      <a:solidFill>
                        <a:srgbClr val="C9D8D2"/>
                      </a:solidFill>
                      <a:prstDash val="solid"/>
                      <a:round/>
                      <a:headEnd type="none" w="med" len="med"/>
                      <a:tailEnd type="none" w="med" len="med"/>
                    </a:lnR>
                    <a:lnT w="9525" cap="flat" cmpd="sng" algn="ctr">
                      <a:solidFill>
                        <a:srgbClr val="C9D8D2"/>
                      </a:solidFill>
                      <a:prstDash val="solid"/>
                      <a:round/>
                      <a:headEnd type="none" w="med" len="med"/>
                      <a:tailEnd type="none" w="med" len="med"/>
                    </a:lnT>
                    <a:lnB w="9525" cap="flat" cmpd="sng" algn="ctr">
                      <a:solidFill>
                        <a:srgbClr val="C9D8D2"/>
                      </a:solidFill>
                      <a:prstDash val="solid"/>
                      <a:round/>
                      <a:headEnd type="none" w="med" len="med"/>
                      <a:tailEnd type="none" w="med" len="med"/>
                    </a:lnB>
                    <a:solidFill>
                      <a:srgbClr val="EEF3F0"/>
                    </a:solidFill>
                  </a:tcPr>
                </a:tc>
                <a:tc>
                  <a:txBody>
                    <a:bodyPr/>
                    <a:lstStyle/>
                    <a:p>
                      <a:pPr marL="0" indent="0">
                        <a:buNone/>
                      </a:pPr>
                      <a:r>
                        <a:rPr lang="en-US" sz="1500" dirty="0">
                          <a:solidFill>
                            <a:schemeClr val="tx1"/>
                          </a:solidFill>
                        </a:rPr>
                        <a:t>5.4</a:t>
                      </a:r>
                      <a:endParaRPr lang="en-US" sz="1500" dirty="0"/>
                    </a:p>
                  </a:txBody>
                  <a:tcPr anchor="ctr">
                    <a:lnL w="9525" cap="flat" cmpd="sng" algn="ctr">
                      <a:solidFill>
                        <a:srgbClr val="C9D8D2"/>
                      </a:solidFill>
                      <a:prstDash val="solid"/>
                      <a:round/>
                      <a:headEnd type="none" w="med" len="med"/>
                      <a:tailEnd type="none" w="med" len="med"/>
                    </a:lnL>
                    <a:lnR w="9525" cap="flat" cmpd="sng" algn="ctr">
                      <a:solidFill>
                        <a:srgbClr val="C9D8D2"/>
                      </a:solidFill>
                      <a:prstDash val="solid"/>
                      <a:round/>
                      <a:headEnd type="none" w="med" len="med"/>
                      <a:tailEnd type="none" w="med" len="med"/>
                    </a:lnR>
                    <a:lnT w="9525" cap="flat" cmpd="sng" algn="ctr">
                      <a:solidFill>
                        <a:srgbClr val="C9D8D2"/>
                      </a:solidFill>
                      <a:prstDash val="solid"/>
                      <a:round/>
                      <a:headEnd type="none" w="med" len="med"/>
                      <a:tailEnd type="none" w="med" len="med"/>
                    </a:lnT>
                    <a:lnB w="9525" cap="flat" cmpd="sng" algn="ctr">
                      <a:solidFill>
                        <a:srgbClr val="C9D8D2"/>
                      </a:solidFill>
                      <a:prstDash val="solid"/>
                      <a:round/>
                      <a:headEnd type="none" w="med" len="med"/>
                      <a:tailEnd type="none" w="med" len="med"/>
                    </a:lnB>
                    <a:solidFill>
                      <a:srgbClr val="EEF3F0"/>
                    </a:solidFill>
                  </a:tcPr>
                </a:tc>
                <a:tc>
                  <a:txBody>
                    <a:bodyPr/>
                    <a:lstStyle/>
                    <a:p>
                      <a:pPr marL="0" indent="0">
                        <a:buNone/>
                      </a:pPr>
                      <a:r>
                        <a:rPr lang="en-US" sz="1500" dirty="0">
                          <a:solidFill>
                            <a:schemeClr val="tx1"/>
                          </a:solidFill>
                        </a:rPr>
                        <a:t>[−3.2, 14.7]</a:t>
                      </a:r>
                      <a:endParaRPr lang="en-US" sz="1500" dirty="0"/>
                    </a:p>
                  </a:txBody>
                  <a:tcPr anchor="ctr">
                    <a:lnL w="9525" cap="flat" cmpd="sng" algn="ctr">
                      <a:solidFill>
                        <a:srgbClr val="C9D8D2"/>
                      </a:solidFill>
                      <a:prstDash val="solid"/>
                      <a:round/>
                      <a:headEnd type="none" w="med" len="med"/>
                      <a:tailEnd type="none" w="med" len="med"/>
                    </a:lnL>
                    <a:lnR w="9525" cap="flat" cmpd="sng" algn="ctr">
                      <a:solidFill>
                        <a:srgbClr val="C9D8D2"/>
                      </a:solidFill>
                      <a:prstDash val="solid"/>
                      <a:round/>
                      <a:headEnd type="none" w="med" len="med"/>
                      <a:tailEnd type="none" w="med" len="med"/>
                    </a:lnR>
                    <a:lnT w="9525" cap="flat" cmpd="sng" algn="ctr">
                      <a:solidFill>
                        <a:srgbClr val="C9D8D2"/>
                      </a:solidFill>
                      <a:prstDash val="solid"/>
                      <a:round/>
                      <a:headEnd type="none" w="med" len="med"/>
                      <a:tailEnd type="none" w="med" len="med"/>
                    </a:lnT>
                    <a:lnB w="9525" cap="flat" cmpd="sng" algn="ctr">
                      <a:solidFill>
                        <a:srgbClr val="C9D8D2"/>
                      </a:solidFill>
                      <a:prstDash val="solid"/>
                      <a:round/>
                      <a:headEnd type="none" w="med" len="med"/>
                      <a:tailEnd type="none" w="med" len="med"/>
                    </a:lnB>
                    <a:solidFill>
                      <a:srgbClr val="EEF3F0"/>
                    </a:solidFill>
                  </a:tcPr>
                </a:tc>
                <a:tc>
                  <a:txBody>
                    <a:bodyPr/>
                    <a:lstStyle/>
                    <a:p>
                      <a:pPr marL="0" indent="0">
                        <a:buNone/>
                      </a:pPr>
                      <a:r>
                        <a:rPr lang="en-US" sz="1500" b="1" dirty="0">
                          <a:solidFill>
                            <a:schemeClr val="accent3"/>
                          </a:solidFill>
                        </a:rPr>
                        <a:t>No</a:t>
                      </a:r>
                      <a:endParaRPr lang="en-US" sz="1500" dirty="0"/>
                    </a:p>
                  </a:txBody>
                  <a:tcPr anchor="ctr">
                    <a:lnL w="9525" cap="flat" cmpd="sng" algn="ctr">
                      <a:solidFill>
                        <a:srgbClr val="C9D8D2"/>
                      </a:solidFill>
                      <a:prstDash val="solid"/>
                      <a:round/>
                      <a:headEnd type="none" w="med" len="med"/>
                      <a:tailEnd type="none" w="med" len="med"/>
                    </a:lnL>
                    <a:lnR w="9525" cap="flat" cmpd="sng" algn="ctr">
                      <a:solidFill>
                        <a:srgbClr val="C9D8D2"/>
                      </a:solidFill>
                      <a:prstDash val="solid"/>
                      <a:round/>
                      <a:headEnd type="none" w="med" len="med"/>
                      <a:tailEnd type="none" w="med" len="med"/>
                    </a:lnR>
                    <a:lnT w="9525" cap="flat" cmpd="sng" algn="ctr">
                      <a:solidFill>
                        <a:srgbClr val="C9D8D2"/>
                      </a:solidFill>
                      <a:prstDash val="solid"/>
                      <a:round/>
                      <a:headEnd type="none" w="med" len="med"/>
                      <a:tailEnd type="none" w="med" len="med"/>
                    </a:lnT>
                    <a:lnB w="9525" cap="flat" cmpd="sng" algn="ctr">
                      <a:solidFill>
                        <a:srgbClr val="C9D8D2"/>
                      </a:solidFill>
                      <a:prstDash val="solid"/>
                      <a:round/>
                      <a:headEnd type="none" w="med" len="med"/>
                      <a:tailEnd type="none" w="med" len="med"/>
                    </a:lnB>
                    <a:solidFill>
                      <a:srgbClr val="EEF3F0"/>
                    </a:solidFill>
                  </a:tcPr>
                </a:tc>
              </a:tr>
              <a:tr h="502920">
                <a:tc>
                  <a:txBody>
                    <a:bodyPr/>
                    <a:lstStyle/>
                    <a:p>
                      <a:pPr marL="0" indent="0">
                        <a:buNone/>
                      </a:pPr>
                      <a:r>
                        <a:rPr lang="en-US" sz="1500" dirty="0">
                          <a:solidFill>
                            <a:schemeClr val="tx1"/>
                          </a:solidFill>
                        </a:rPr>
                        <a:t>1.5B</a:t>
                      </a:r>
                      <a:endParaRPr lang="en-US" sz="1500" dirty="0"/>
                    </a:p>
                  </a:txBody>
                  <a:tcPr anchor="ctr">
                    <a:lnL w="9525" cap="flat" cmpd="sng" algn="ctr">
                      <a:solidFill>
                        <a:srgbClr val="C9D8D2"/>
                      </a:solidFill>
                      <a:prstDash val="solid"/>
                      <a:round/>
                      <a:headEnd type="none" w="med" len="med"/>
                      <a:tailEnd type="none" w="med" len="med"/>
                    </a:lnL>
                    <a:lnR w="9525" cap="flat" cmpd="sng" algn="ctr">
                      <a:solidFill>
                        <a:srgbClr val="C9D8D2"/>
                      </a:solidFill>
                      <a:prstDash val="solid"/>
                      <a:round/>
                      <a:headEnd type="none" w="med" len="med"/>
                      <a:tailEnd type="none" w="med" len="med"/>
                    </a:lnR>
                    <a:lnT w="9525" cap="flat" cmpd="sng" algn="ctr">
                      <a:solidFill>
                        <a:srgbClr val="C9D8D2"/>
                      </a:solidFill>
                      <a:prstDash val="solid"/>
                      <a:round/>
                      <a:headEnd type="none" w="med" len="med"/>
                      <a:tailEnd type="none" w="med" len="med"/>
                    </a:lnT>
                    <a:lnB w="9525" cap="flat" cmpd="sng" algn="ctr">
                      <a:solidFill>
                        <a:srgbClr val="C9D8D2"/>
                      </a:solidFill>
                      <a:prstDash val="solid"/>
                      <a:round/>
                      <a:headEnd type="none" w="med" len="med"/>
                      <a:tailEnd type="none" w="med" len="med"/>
                    </a:lnB>
                    <a:solidFill>
                      <a:srgbClr val="EEF3F0"/>
                    </a:solidFill>
                  </a:tcPr>
                </a:tc>
                <a:tc>
                  <a:txBody>
                    <a:bodyPr/>
                    <a:lstStyle/>
                    <a:p>
                      <a:pPr marL="0" indent="0">
                        <a:buNone/>
                      </a:pPr>
                      <a:r>
                        <a:rPr lang="en-US" sz="1500" dirty="0">
                          <a:solidFill>
                            <a:schemeClr val="tx1"/>
                          </a:solidFill>
                        </a:rPr>
                        <a:t>1.5</a:t>
                      </a:r>
                      <a:endParaRPr lang="en-US" sz="1500" dirty="0"/>
                    </a:p>
                  </a:txBody>
                  <a:tcPr anchor="ctr">
                    <a:lnL w="9525" cap="flat" cmpd="sng" algn="ctr">
                      <a:solidFill>
                        <a:srgbClr val="C9D8D2"/>
                      </a:solidFill>
                      <a:prstDash val="solid"/>
                      <a:round/>
                      <a:headEnd type="none" w="med" len="med"/>
                      <a:tailEnd type="none" w="med" len="med"/>
                    </a:lnL>
                    <a:lnR w="9525" cap="flat" cmpd="sng" algn="ctr">
                      <a:solidFill>
                        <a:srgbClr val="C9D8D2"/>
                      </a:solidFill>
                      <a:prstDash val="solid"/>
                      <a:round/>
                      <a:headEnd type="none" w="med" len="med"/>
                      <a:tailEnd type="none" w="med" len="med"/>
                    </a:lnR>
                    <a:lnT w="9525" cap="flat" cmpd="sng" algn="ctr">
                      <a:solidFill>
                        <a:srgbClr val="C9D8D2"/>
                      </a:solidFill>
                      <a:prstDash val="solid"/>
                      <a:round/>
                      <a:headEnd type="none" w="med" len="med"/>
                      <a:tailEnd type="none" w="med" len="med"/>
                    </a:lnT>
                    <a:lnB w="9525" cap="flat" cmpd="sng" algn="ctr">
                      <a:solidFill>
                        <a:srgbClr val="C9D8D2"/>
                      </a:solidFill>
                      <a:prstDash val="solid"/>
                      <a:round/>
                      <a:headEnd type="none" w="med" len="med"/>
                      <a:tailEnd type="none" w="med" len="med"/>
                    </a:lnB>
                    <a:solidFill>
                      <a:srgbClr val="EEF3F0"/>
                    </a:solidFill>
                  </a:tcPr>
                </a:tc>
                <a:tc>
                  <a:txBody>
                    <a:bodyPr/>
                    <a:lstStyle/>
                    <a:p>
                      <a:pPr marL="0" indent="0">
                        <a:buNone/>
                      </a:pPr>
                      <a:r>
                        <a:rPr lang="en-US" sz="1500" dirty="0">
                          <a:solidFill>
                            <a:schemeClr val="tx1"/>
                          </a:solidFill>
                        </a:rPr>
                        <a:t>[−8.3, 10.9]</a:t>
                      </a:r>
                      <a:endParaRPr lang="en-US" sz="1500" dirty="0"/>
                    </a:p>
                  </a:txBody>
                  <a:tcPr anchor="ctr">
                    <a:lnL w="9525" cap="flat" cmpd="sng" algn="ctr">
                      <a:solidFill>
                        <a:srgbClr val="C9D8D2"/>
                      </a:solidFill>
                      <a:prstDash val="solid"/>
                      <a:round/>
                      <a:headEnd type="none" w="med" len="med"/>
                      <a:tailEnd type="none" w="med" len="med"/>
                    </a:lnL>
                    <a:lnR w="9525" cap="flat" cmpd="sng" algn="ctr">
                      <a:solidFill>
                        <a:srgbClr val="C9D8D2"/>
                      </a:solidFill>
                      <a:prstDash val="solid"/>
                      <a:round/>
                      <a:headEnd type="none" w="med" len="med"/>
                      <a:tailEnd type="none" w="med" len="med"/>
                    </a:lnR>
                    <a:lnT w="9525" cap="flat" cmpd="sng" algn="ctr">
                      <a:solidFill>
                        <a:srgbClr val="C9D8D2"/>
                      </a:solidFill>
                      <a:prstDash val="solid"/>
                      <a:round/>
                      <a:headEnd type="none" w="med" len="med"/>
                      <a:tailEnd type="none" w="med" len="med"/>
                    </a:lnT>
                    <a:lnB w="9525" cap="flat" cmpd="sng" algn="ctr">
                      <a:solidFill>
                        <a:srgbClr val="C9D8D2"/>
                      </a:solidFill>
                      <a:prstDash val="solid"/>
                      <a:round/>
                      <a:headEnd type="none" w="med" len="med"/>
                      <a:tailEnd type="none" w="med" len="med"/>
                    </a:lnB>
                    <a:solidFill>
                      <a:srgbClr val="EEF3F0"/>
                    </a:solidFill>
                  </a:tcPr>
                </a:tc>
                <a:tc>
                  <a:txBody>
                    <a:bodyPr/>
                    <a:lstStyle/>
                    <a:p>
                      <a:pPr marL="0" indent="0">
                        <a:buNone/>
                      </a:pPr>
                      <a:r>
                        <a:rPr lang="en-US" sz="1500" b="1" dirty="0">
                          <a:solidFill>
                            <a:schemeClr val="accent3"/>
                          </a:solidFill>
                        </a:rPr>
                        <a:t>No</a:t>
                      </a:r>
                      <a:endParaRPr lang="en-US" sz="1500" dirty="0"/>
                    </a:p>
                  </a:txBody>
                  <a:tcPr anchor="ctr">
                    <a:lnL w="9525" cap="flat" cmpd="sng" algn="ctr">
                      <a:solidFill>
                        <a:srgbClr val="C9D8D2"/>
                      </a:solidFill>
                      <a:prstDash val="solid"/>
                      <a:round/>
                      <a:headEnd type="none" w="med" len="med"/>
                      <a:tailEnd type="none" w="med" len="med"/>
                    </a:lnL>
                    <a:lnR w="9525" cap="flat" cmpd="sng" algn="ctr">
                      <a:solidFill>
                        <a:srgbClr val="C9D8D2"/>
                      </a:solidFill>
                      <a:prstDash val="solid"/>
                      <a:round/>
                      <a:headEnd type="none" w="med" len="med"/>
                      <a:tailEnd type="none" w="med" len="med"/>
                    </a:lnR>
                    <a:lnT w="9525" cap="flat" cmpd="sng" algn="ctr">
                      <a:solidFill>
                        <a:srgbClr val="C9D8D2"/>
                      </a:solidFill>
                      <a:prstDash val="solid"/>
                      <a:round/>
                      <a:headEnd type="none" w="med" len="med"/>
                      <a:tailEnd type="none" w="med" len="med"/>
                    </a:lnT>
                    <a:lnB w="9525" cap="flat" cmpd="sng" algn="ctr">
                      <a:solidFill>
                        <a:srgbClr val="C9D8D2"/>
                      </a:solidFill>
                      <a:prstDash val="solid"/>
                      <a:round/>
                      <a:headEnd type="none" w="med" len="med"/>
                      <a:tailEnd type="none" w="med" len="med"/>
                    </a:lnB>
                    <a:solidFill>
                      <a:srgbClr val="EEF3F0"/>
                    </a:solidFill>
                  </a:tcPr>
                </a:tc>
              </a:tr>
            </a:tbl>
          </a:graphicData>
        </a:graphic>
      </p:graphicFrame>
      <p:sp>
        <p:nvSpPr>
          <p:cNvPr id="6" name="Text 2"/>
          <p:cNvSpPr txBox="1"/>
          <p:nvPr/>
        </p:nvSpPr>
        <p:spPr>
          <a:xfrm>
            <a:off x="6492240" y="3703320"/>
            <a:ext cx="5148072" cy="1097280"/>
          </a:xfrm>
          <a:prstGeom prst="rect">
            <a:avLst/>
          </a:prstGeom>
          <a:noFill/>
          <a:ln/>
        </p:spPr>
        <p:txBody>
          <a:bodyPr wrap="square" lIns="0" tIns="0" rIns="0" bIns="0" rtlCol="0" anchor="t"/>
          <a:lstStyle/>
          <a:p>
            <a:pPr marL="0" indent="0">
              <a:buNone/>
            </a:pPr>
            <a:r>
              <a:rPr lang="en-US" sz="1500" dirty="0">
                <a:solidFill>
                  <a:schemeClr val="tx1"/>
                </a:solidFill>
              </a:rPr>
              <a:t>Cluster bootstrap over templates. Both intervals include 0, so at this scale we can't claim the models do worse on GSM-Symbolic than on GSM8K.</a:t>
            </a:r>
            <a:endParaRPr lang="en-US" sz="1500" dirty="0"/>
          </a:p>
        </p:txBody>
      </p:sp>
      <p:sp>
        <p:nvSpPr>
          <p:cNvPr id="7" name="Text 3"/>
          <p:cNvSpPr txBox="1"/>
          <p:nvPr/>
        </p:nvSpPr>
        <p:spPr>
          <a:xfrm>
            <a:off x="548640" y="5806440"/>
            <a:ext cx="11094415" cy="365760"/>
          </a:xfrm>
          <a:prstGeom prst="rect">
            <a:avLst/>
          </a:prstGeom>
          <a:noFill/>
          <a:ln/>
        </p:spPr>
        <p:txBody>
          <a:bodyPr wrap="square" lIns="0" tIns="0" rIns="0" bIns="0" rtlCol="0" anchor="t"/>
          <a:lstStyle/>
          <a:p>
            <a:pPr marL="0" indent="0">
              <a:buNone/>
            </a:pPr>
            <a:r>
              <a:rPr lang="en-US" sz="1200" i="1" dirty="0">
                <a:solidFill>
                  <a:schemeClr val="accent5"/>
                </a:solidFill>
              </a:rPr>
              <a:t>Checks inspired by the 2026 critique “The Importance of Being Statistically Earnest”.</a:t>
            </a:r>
            <a:endParaRPr lang="en-US" sz="12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tx2"/>
                </a:solidFill>
                <a:latin typeface="Cambria" pitchFamily="34" charset="0"/>
                <a:ea typeface="Cambria" pitchFamily="34" charset="-122"/>
                <a:cs typeface="Cambria" pitchFamily="34" charset="-120"/>
              </a:rPr>
              <a:t>Bigger numbers, harder arithmetic</a:t>
            </a:r>
            <a:endParaRPr lang="en-US" sz="3600" dirty="0"/>
          </a:p>
        </p:txBody>
      </p:sp>
      <p:sp>
        <p:nvSpPr>
          <p:cNvPr id="3" name="confound card 1"/>
          <p:cNvSpPr/>
          <p:nvPr/>
        </p:nvSpPr>
        <p:spPr>
          <a:xfrm>
            <a:off x="548640" y="1417320"/>
            <a:ext cx="3520440" cy="3017520"/>
          </a:xfrm>
          <a:prstGeom prst="roundRect">
            <a:avLst>
              <a:gd name="adj" fmla="val 3636"/>
            </a:avLst>
          </a:prstGeom>
          <a:solidFill>
            <a:schemeClr val="bg2"/>
          </a:solidFill>
          <a:ln/>
        </p:spPr>
      </p:sp>
      <p:sp>
        <p:nvSpPr>
          <p:cNvPr id="4" name="confound 1 circle"/>
          <p:cNvSpPr/>
          <p:nvPr/>
        </p:nvSpPr>
        <p:spPr>
          <a:xfrm>
            <a:off x="868680" y="1691640"/>
            <a:ext cx="640080" cy="640080"/>
          </a:xfrm>
          <a:prstGeom prst="ellipse">
            <a:avLst/>
          </a:prstGeom>
          <a:solidFill>
            <a:schemeClr val="accent2"/>
          </a:solidFill>
          <a:ln/>
        </p:spPr>
      </p:sp>
      <p:pic>
        <p:nvPicPr>
          <p:cNvPr id="5" name="confound 1 icon" descr="preencoded.png"/>
          <p:cNvPicPr>
            <a:picLocks noChangeAspect="1"/>
          </p:cNvPicPr>
          <p:nvPr/>
        </p:nvPicPr>
        <p:blipFill>
          <a:blip r:embed="rId3"/>
          <a:stretch>
            <a:fillRect/>
          </a:stretch>
        </p:blipFill>
        <p:spPr>
          <a:xfrm>
            <a:off x="1028700" y="1851660"/>
            <a:ext cx="320040" cy="320040"/>
          </a:xfrm>
          <a:prstGeom prst="rect">
            <a:avLst/>
          </a:prstGeom>
        </p:spPr>
      </p:pic>
      <p:sp>
        <p:nvSpPr>
          <p:cNvPr id="6" name="confound 1 value"/>
          <p:cNvSpPr txBox="1"/>
          <p:nvPr/>
        </p:nvSpPr>
        <p:spPr>
          <a:xfrm>
            <a:off x="868680" y="2514600"/>
            <a:ext cx="2926080" cy="86868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12 → 17</a:t>
            </a:r>
            <a:endParaRPr lang="en-US" sz="4000" dirty="0"/>
          </a:p>
        </p:txBody>
      </p:sp>
      <p:sp>
        <p:nvSpPr>
          <p:cNvPr id="7" name="confound 1 label"/>
          <p:cNvSpPr txBox="1"/>
          <p:nvPr/>
        </p:nvSpPr>
        <p:spPr>
          <a:xfrm>
            <a:off x="868680" y="3410712"/>
            <a:ext cx="2926080" cy="640080"/>
          </a:xfrm>
          <a:prstGeom prst="rect">
            <a:avLst/>
          </a:prstGeom>
          <a:noFill/>
          <a:ln/>
        </p:spPr>
        <p:txBody>
          <a:bodyPr wrap="square" lIns="0" tIns="0" rIns="0" bIns="0" rtlCol="0" anchor="t"/>
          <a:lstStyle/>
          <a:p>
            <a:pPr marL="0" indent="0">
              <a:buNone/>
            </a:pPr>
            <a:r>
              <a:rPr lang="en-US" sz="1400" dirty="0">
                <a:solidFill>
                  <a:schemeClr val="accent5"/>
                </a:solidFill>
              </a:rPr>
              <a:t>median integer in a question: GSM8K vs our variants</a:t>
            </a:r>
            <a:endParaRPr lang="en-US" sz="1400" dirty="0"/>
          </a:p>
        </p:txBody>
      </p:sp>
      <p:sp>
        <p:nvSpPr>
          <p:cNvPr id="8" name="confound card 2"/>
          <p:cNvSpPr/>
          <p:nvPr/>
        </p:nvSpPr>
        <p:spPr>
          <a:xfrm>
            <a:off x="4334256" y="1417320"/>
            <a:ext cx="3520440" cy="3017520"/>
          </a:xfrm>
          <a:prstGeom prst="roundRect">
            <a:avLst>
              <a:gd name="adj" fmla="val 3636"/>
            </a:avLst>
          </a:prstGeom>
          <a:solidFill>
            <a:schemeClr val="bg2"/>
          </a:solidFill>
          <a:ln/>
        </p:spPr>
      </p:sp>
      <p:sp>
        <p:nvSpPr>
          <p:cNvPr id="9" name="confound 2 circle"/>
          <p:cNvSpPr/>
          <p:nvPr/>
        </p:nvSpPr>
        <p:spPr>
          <a:xfrm>
            <a:off x="4654296" y="1691640"/>
            <a:ext cx="640080" cy="640080"/>
          </a:xfrm>
          <a:prstGeom prst="ellipse">
            <a:avLst/>
          </a:prstGeom>
          <a:solidFill>
            <a:schemeClr val="tx2"/>
          </a:solidFill>
          <a:ln/>
        </p:spPr>
      </p:sp>
      <p:pic>
        <p:nvPicPr>
          <p:cNvPr id="10" name="confound 2 icon" descr="preencoded.png"/>
          <p:cNvPicPr>
            <a:picLocks noChangeAspect="1"/>
          </p:cNvPicPr>
          <p:nvPr/>
        </p:nvPicPr>
        <p:blipFill>
          <a:blip r:embed="rId4"/>
          <a:stretch>
            <a:fillRect/>
          </a:stretch>
        </p:blipFill>
        <p:spPr>
          <a:xfrm>
            <a:off x="4814316" y="1851660"/>
            <a:ext cx="320040" cy="320040"/>
          </a:xfrm>
          <a:prstGeom prst="rect">
            <a:avLst/>
          </a:prstGeom>
        </p:spPr>
      </p:pic>
      <p:sp>
        <p:nvSpPr>
          <p:cNvPr id="11" name="confound 2 value"/>
          <p:cNvSpPr txBox="1"/>
          <p:nvPr/>
        </p:nvSpPr>
        <p:spPr>
          <a:xfrm>
            <a:off x="4654296" y="2514600"/>
            <a:ext cx="2926080" cy="868680"/>
          </a:xfrm>
          <a:prstGeom prst="rect">
            <a:avLst/>
          </a:prstGeom>
          <a:noFill/>
          <a:ln/>
        </p:spPr>
        <p:txBody>
          <a:bodyPr wrap="square" lIns="0" tIns="0" rIns="0" bIns="0" rtlCol="0" anchor="t"/>
          <a:lstStyle/>
          <a:p>
            <a:pPr marL="0" indent="0">
              <a:buNone/>
            </a:pPr>
            <a:r>
              <a:rPr lang="en-US" sz="4000" b="1" dirty="0">
                <a:solidFill>
                  <a:schemeClr val="tx2"/>
                </a:solidFill>
                <a:latin typeface="Cambria" pitchFamily="34" charset="0"/>
                <a:ea typeface="Cambria" pitchFamily="34" charset="-122"/>
                <a:cs typeface="Cambria" pitchFamily="34" charset="-120"/>
              </a:rPr>
              <a:t>p = 0.009</a:t>
            </a:r>
            <a:endParaRPr lang="en-US" sz="4000" dirty="0"/>
          </a:p>
        </p:txBody>
      </p:sp>
      <p:sp>
        <p:nvSpPr>
          <p:cNvPr id="12" name="confound 2 label"/>
          <p:cNvSpPr txBox="1"/>
          <p:nvPr/>
        </p:nvSpPr>
        <p:spPr>
          <a:xfrm>
            <a:off x="4654296" y="3410712"/>
            <a:ext cx="2926080" cy="640080"/>
          </a:xfrm>
          <a:prstGeom prst="rect">
            <a:avLst/>
          </a:prstGeom>
          <a:noFill/>
          <a:ln/>
        </p:spPr>
        <p:txBody>
          <a:bodyPr wrap="square" lIns="0" tIns="0" rIns="0" bIns="0" rtlCol="0" anchor="t"/>
          <a:lstStyle/>
          <a:p>
            <a:pPr marL="0" indent="0">
              <a:buNone/>
            </a:pPr>
            <a:r>
              <a:rPr lang="en-US" sz="1400" dirty="0">
                <a:solidFill>
                  <a:schemeClr val="accent5"/>
                </a:solidFill>
              </a:rPr>
              <a:t>KS test: the number distributions really differ</a:t>
            </a:r>
            <a:endParaRPr lang="en-US" sz="1400" dirty="0"/>
          </a:p>
        </p:txBody>
      </p:sp>
      <p:sp>
        <p:nvSpPr>
          <p:cNvPr id="13" name="confound card 3"/>
          <p:cNvSpPr/>
          <p:nvPr/>
        </p:nvSpPr>
        <p:spPr>
          <a:xfrm>
            <a:off x="8119872" y="1417320"/>
            <a:ext cx="3520440" cy="3017520"/>
          </a:xfrm>
          <a:prstGeom prst="roundRect">
            <a:avLst>
              <a:gd name="adj" fmla="val 3636"/>
            </a:avLst>
          </a:prstGeom>
          <a:solidFill>
            <a:schemeClr val="bg2"/>
          </a:solidFill>
          <a:ln/>
        </p:spPr>
      </p:sp>
      <p:sp>
        <p:nvSpPr>
          <p:cNvPr id="14" name="confound 3 circle"/>
          <p:cNvSpPr/>
          <p:nvPr/>
        </p:nvSpPr>
        <p:spPr>
          <a:xfrm>
            <a:off x="8439912" y="1691640"/>
            <a:ext cx="640080" cy="640080"/>
          </a:xfrm>
          <a:prstGeom prst="ellipse">
            <a:avLst/>
          </a:prstGeom>
          <a:solidFill>
            <a:schemeClr val="accent3"/>
          </a:solidFill>
          <a:ln/>
        </p:spPr>
      </p:sp>
      <p:pic>
        <p:nvPicPr>
          <p:cNvPr id="15" name="confound 3 icon" descr="preencoded.png"/>
          <p:cNvPicPr>
            <a:picLocks noChangeAspect="1"/>
          </p:cNvPicPr>
          <p:nvPr/>
        </p:nvPicPr>
        <p:blipFill>
          <a:blip r:embed="rId5"/>
          <a:stretch>
            <a:fillRect/>
          </a:stretch>
        </p:blipFill>
        <p:spPr>
          <a:xfrm>
            <a:off x="8599932" y="1851660"/>
            <a:ext cx="320040" cy="320040"/>
          </a:xfrm>
          <a:prstGeom prst="rect">
            <a:avLst/>
          </a:prstGeom>
        </p:spPr>
      </p:pic>
      <p:sp>
        <p:nvSpPr>
          <p:cNvPr id="16" name="confound 3 value"/>
          <p:cNvSpPr txBox="1"/>
          <p:nvPr/>
        </p:nvSpPr>
        <p:spPr>
          <a:xfrm>
            <a:off x="8439912" y="2514600"/>
            <a:ext cx="2926080" cy="868680"/>
          </a:xfrm>
          <a:prstGeom prst="rect">
            <a:avLst/>
          </a:prstGeom>
          <a:noFill/>
          <a:ln/>
        </p:spPr>
        <p:txBody>
          <a:bodyPr wrap="square" lIns="0" tIns="0" rIns="0" bIns="0" rtlCol="0" anchor="t"/>
          <a:lstStyle/>
          <a:p>
            <a:pPr marL="0" indent="0">
              <a:buNone/>
            </a:pPr>
            <a:r>
              <a:rPr lang="en-US" sz="4000" b="1" dirty="0">
                <a:solidFill>
                  <a:schemeClr val="accent3"/>
                </a:solidFill>
                <a:latin typeface="Cambria" pitchFamily="34" charset="0"/>
                <a:ea typeface="Cambria" pitchFamily="34" charset="-122"/>
                <a:cs typeface="Cambria" pitchFamily="34" charset="-120"/>
              </a:rPr>
              <a:t>77% → 56%</a:t>
            </a:r>
            <a:endParaRPr lang="en-US" sz="4000" dirty="0"/>
          </a:p>
        </p:txBody>
      </p:sp>
      <p:sp>
        <p:nvSpPr>
          <p:cNvPr id="17" name="confound 3 label"/>
          <p:cNvSpPr txBox="1"/>
          <p:nvPr/>
        </p:nvSpPr>
        <p:spPr>
          <a:xfrm>
            <a:off x="8439912" y="3410712"/>
            <a:ext cx="2926080" cy="640080"/>
          </a:xfrm>
          <a:prstGeom prst="rect">
            <a:avLst/>
          </a:prstGeom>
          <a:noFill/>
          <a:ln/>
        </p:spPr>
        <p:txBody>
          <a:bodyPr wrap="square" lIns="0" tIns="0" rIns="0" bIns="0" rtlCol="0" anchor="t"/>
          <a:lstStyle/>
          <a:p>
            <a:pPr marL="0" indent="0">
              <a:buNone/>
            </a:pPr>
            <a:r>
              <a:rPr lang="en-US" sz="1400" dirty="0">
                <a:solidFill>
                  <a:schemeClr val="accent5"/>
                </a:solidFill>
              </a:rPr>
              <a:t>1.5B accuracy, smallest → largest third of numbers</a:t>
            </a:r>
            <a:endParaRPr lang="en-US" sz="1400" dirty="0"/>
          </a:p>
        </p:txBody>
      </p:sp>
      <p:sp>
        <p:nvSpPr>
          <p:cNvPr id="18" name="Text 13"/>
          <p:cNvSpPr txBox="1"/>
          <p:nvPr/>
        </p:nvSpPr>
        <p:spPr>
          <a:xfrm>
            <a:off x="548640" y="4800600"/>
            <a:ext cx="11094415" cy="1188720"/>
          </a:xfrm>
          <a:prstGeom prst="rect">
            <a:avLst/>
          </a:prstGeom>
          <a:noFill/>
          <a:ln/>
        </p:spPr>
        <p:txBody>
          <a:bodyPr wrap="square" lIns="0" tIns="0" rIns="0" bIns="0" rtlCol="0" anchor="t"/>
          <a:lstStyle/>
          <a:p>
            <a:pPr marL="0" indent="0">
              <a:buNone/>
            </a:pPr>
            <a:r>
              <a:rPr lang="en-US" sz="1800" b="1" dirty="0">
                <a:solidFill>
                  <a:schemeClr val="accent1"/>
                </a:solidFill>
              </a:rPr>
              <a:t>So what? </a:t>
            </a:r>
            <a:r>
              <a:rPr lang="en-US" sz="1800" dirty="0">
                <a:solidFill>
                  <a:schemeClr val="tx1"/>
                </a:solidFill>
              </a:rPr>
              <a:t>Part of the “numbers hurt” effect may be harder arithmetic, not memorization. </a:t>
            </a:r>
            <a:r>
              <a:rPr lang="en-US" sz="1800" b="1" dirty="0">
                <a:solidFill>
                  <a:schemeClr val="accent3"/>
                </a:solidFill>
              </a:rPr>
              <a:t>Caveat: </a:t>
            </a:r>
            <a:r>
              <a:rPr lang="en-US" sz="1800" dirty="0">
                <a:solidFill>
                  <a:schemeClr val="tx1"/>
                </a:solidFill>
              </a:rPr>
              <a:t>the size split mixes templates, so this is suggestive, not conclusive; a within-template analysis would settle it.</a:t>
            </a:r>
            <a:endParaRPr lang="en-US" sz="18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94415" cy="777240"/>
          </a:xfrm>
          <a:prstGeom prst="rect">
            <a:avLst/>
          </a:prstGeom>
          <a:noFill/>
          <a:ln/>
        </p:spPr>
        <p:txBody>
          <a:bodyPr wrap="square" lIns="0" tIns="0" rIns="0" bIns="0" rtlCol="0" anchor="ctr"/>
          <a:lstStyle/>
          <a:p>
            <a:pPr marL="0" indent="0">
              <a:buNone/>
            </a:pPr>
            <a:r>
              <a:rPr lang="en-US" sz="3600" b="1" dirty="0">
                <a:solidFill>
                  <a:schemeClr val="bg1"/>
                </a:solidFill>
                <a:latin typeface="Cambria" pitchFamily="34" charset="0"/>
                <a:ea typeface="Cambria" pitchFamily="34" charset="-122"/>
                <a:cs typeface="Cambria" pitchFamily="34" charset="-120"/>
              </a:rPr>
              <a:t>What holds up, and what doesn't</a:t>
            </a:r>
            <a:endParaRPr lang="en-US" sz="3600" dirty="0"/>
          </a:p>
        </p:txBody>
      </p:sp>
      <p:sp>
        <p:nvSpPr>
          <p:cNvPr id="3" name="takeaway card 1"/>
          <p:cNvSpPr/>
          <p:nvPr/>
        </p:nvSpPr>
        <p:spPr>
          <a:xfrm>
            <a:off x="548640" y="1417320"/>
            <a:ext cx="3520440" cy="4206240"/>
          </a:xfrm>
          <a:prstGeom prst="roundRect">
            <a:avLst>
              <a:gd name="adj" fmla="val 3117"/>
            </a:avLst>
          </a:prstGeom>
          <a:solidFill>
            <a:srgbClr val="2A4A43"/>
          </a:solidFill>
          <a:ln/>
        </p:spPr>
      </p:sp>
      <p:sp>
        <p:nvSpPr>
          <p:cNvPr id="4" name="takeaway 1 circle"/>
          <p:cNvSpPr/>
          <p:nvPr/>
        </p:nvSpPr>
        <p:spPr>
          <a:xfrm>
            <a:off x="868680" y="1737360"/>
            <a:ext cx="731520" cy="731520"/>
          </a:xfrm>
          <a:prstGeom prst="ellipse">
            <a:avLst/>
          </a:prstGeom>
          <a:solidFill>
            <a:schemeClr val="accent1"/>
          </a:solidFill>
          <a:ln/>
        </p:spPr>
      </p:sp>
      <p:pic>
        <p:nvPicPr>
          <p:cNvPr id="5" name="takeaway 1 icon" descr="preencoded.png"/>
          <p:cNvPicPr>
            <a:picLocks noChangeAspect="1"/>
          </p:cNvPicPr>
          <p:nvPr/>
        </p:nvPicPr>
        <p:blipFill>
          <a:blip r:embed="rId3"/>
          <a:stretch>
            <a:fillRect/>
          </a:stretch>
        </p:blipFill>
        <p:spPr>
          <a:xfrm>
            <a:off x="1051560" y="1920240"/>
            <a:ext cx="365760" cy="365760"/>
          </a:xfrm>
          <a:prstGeom prst="rect">
            <a:avLst/>
          </a:prstGeom>
        </p:spPr>
      </p:pic>
      <p:sp>
        <p:nvSpPr>
          <p:cNvPr id="6" name="Text 3"/>
          <p:cNvSpPr txBox="1"/>
          <p:nvPr/>
        </p:nvSpPr>
        <p:spPr>
          <a:xfrm>
            <a:off x="868680" y="2651760"/>
            <a:ext cx="2926080" cy="457200"/>
          </a:xfrm>
          <a:prstGeom prst="rect">
            <a:avLst/>
          </a:prstGeom>
          <a:noFill/>
          <a:ln/>
        </p:spPr>
        <p:txBody>
          <a:bodyPr wrap="square" lIns="0" tIns="0" rIns="0" bIns="0" rtlCol="0" anchor="t"/>
          <a:lstStyle/>
          <a:p>
            <a:pPr marL="0" indent="0">
              <a:buNone/>
            </a:pPr>
            <a:r>
              <a:rPr lang="en-US" sz="2200" b="1" dirty="0">
                <a:solidFill>
                  <a:schemeClr val="bg1"/>
                </a:solidFill>
                <a:latin typeface="Cambria" pitchFamily="34" charset="0"/>
                <a:ea typeface="Cambria" pitchFamily="34" charset="-122"/>
                <a:cs typeface="Cambria" pitchFamily="34" charset="-120"/>
              </a:rPr>
              <a:t>Holds up</a:t>
            </a:r>
            <a:endParaRPr lang="en-US" sz="2200" dirty="0"/>
          </a:p>
        </p:txBody>
      </p:sp>
      <p:sp>
        <p:nvSpPr>
          <p:cNvPr id="7" name="Text 4"/>
          <p:cNvSpPr txBox="1"/>
          <p:nvPr/>
        </p:nvSpPr>
        <p:spPr>
          <a:xfrm>
            <a:off x="868680" y="3246120"/>
            <a:ext cx="2926080" cy="21945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accent6"/>
                </a:solidFill>
              </a:rPr>
              <a:t>Difficulty scaling: 65% → 46% → 22% (1.5B)</a:t>
            </a:r>
            <a:endParaRPr lang="en-US" sz="1800" dirty="0"/>
          </a:p>
          <a:p>
            <a:pPr marL="342900" indent="-342900">
              <a:spcAft>
                <a:spcPts val="1200"/>
              </a:spcAft>
              <a:buSzPct val="100000"/>
              <a:buChar char="•"/>
            </a:pPr>
            <a:r>
              <a:rPr lang="en-US" sz="1800" dirty="0">
                <a:solidFill>
                  <a:schemeClr val="accent6"/>
                </a:solidFill>
              </a:rPr>
              <a:t>GSM-NoOp: −53 pts from one irrelevant sentence</a:t>
            </a:r>
            <a:endParaRPr lang="en-US" sz="1800" dirty="0"/>
          </a:p>
        </p:txBody>
      </p:sp>
      <p:sp>
        <p:nvSpPr>
          <p:cNvPr id="8" name="takeaway card 2"/>
          <p:cNvSpPr/>
          <p:nvPr/>
        </p:nvSpPr>
        <p:spPr>
          <a:xfrm>
            <a:off x="4334256" y="1417320"/>
            <a:ext cx="3520440" cy="4206240"/>
          </a:xfrm>
          <a:prstGeom prst="roundRect">
            <a:avLst>
              <a:gd name="adj" fmla="val 3117"/>
            </a:avLst>
          </a:prstGeom>
          <a:solidFill>
            <a:srgbClr val="2A4A43"/>
          </a:solidFill>
          <a:ln/>
        </p:spPr>
      </p:sp>
      <p:sp>
        <p:nvSpPr>
          <p:cNvPr id="9" name="takeaway 2 circle"/>
          <p:cNvSpPr/>
          <p:nvPr/>
        </p:nvSpPr>
        <p:spPr>
          <a:xfrm>
            <a:off x="4654296" y="1737360"/>
            <a:ext cx="731520" cy="731520"/>
          </a:xfrm>
          <a:prstGeom prst="ellipse">
            <a:avLst/>
          </a:prstGeom>
          <a:solidFill>
            <a:schemeClr val="accent2"/>
          </a:solidFill>
          <a:ln/>
        </p:spPr>
      </p:sp>
      <p:pic>
        <p:nvPicPr>
          <p:cNvPr id="10" name="takeaway 2 icon" descr="preencoded.png"/>
          <p:cNvPicPr>
            <a:picLocks noChangeAspect="1"/>
          </p:cNvPicPr>
          <p:nvPr/>
        </p:nvPicPr>
        <p:blipFill>
          <a:blip r:embed="rId4"/>
          <a:stretch>
            <a:fillRect/>
          </a:stretch>
        </p:blipFill>
        <p:spPr>
          <a:xfrm>
            <a:off x="4837176" y="1920240"/>
            <a:ext cx="365760" cy="365760"/>
          </a:xfrm>
          <a:prstGeom prst="rect">
            <a:avLst/>
          </a:prstGeom>
        </p:spPr>
      </p:pic>
      <p:sp>
        <p:nvSpPr>
          <p:cNvPr id="11" name="Text 7"/>
          <p:cNvSpPr txBox="1"/>
          <p:nvPr/>
        </p:nvSpPr>
        <p:spPr>
          <a:xfrm>
            <a:off x="4654296" y="2651760"/>
            <a:ext cx="2926080" cy="457200"/>
          </a:xfrm>
          <a:prstGeom prst="rect">
            <a:avLst/>
          </a:prstGeom>
          <a:noFill/>
          <a:ln/>
        </p:spPr>
        <p:txBody>
          <a:bodyPr wrap="square" lIns="0" tIns="0" rIns="0" bIns="0" rtlCol="0" anchor="t"/>
          <a:lstStyle/>
          <a:p>
            <a:pPr marL="0" indent="0">
              <a:buNone/>
            </a:pPr>
            <a:r>
              <a:rPr lang="en-US" sz="2200" b="1" dirty="0">
                <a:solidFill>
                  <a:schemeClr val="bg1"/>
                </a:solidFill>
                <a:latin typeface="Cambria" pitchFamily="34" charset="0"/>
                <a:ea typeface="Cambria" pitchFamily="34" charset="-122"/>
                <a:cs typeface="Cambria" pitchFamily="34" charset="-120"/>
              </a:rPr>
              <a:t>Weaker than claimed</a:t>
            </a:r>
            <a:endParaRPr lang="en-US" sz="2200" dirty="0"/>
          </a:p>
        </p:txBody>
      </p:sp>
      <p:sp>
        <p:nvSpPr>
          <p:cNvPr id="12" name="Text 8"/>
          <p:cNvSpPr txBox="1"/>
          <p:nvPr/>
        </p:nvSpPr>
        <p:spPr>
          <a:xfrm>
            <a:off x="4654296" y="3246120"/>
            <a:ext cx="2926080" cy="21945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accent6"/>
                </a:solidFill>
              </a:rPr>
              <a:t>Original → symbolic drop is not significant</a:t>
            </a:r>
            <a:endParaRPr lang="en-US" sz="1800" dirty="0"/>
          </a:p>
          <a:p>
            <a:pPr marL="342900" indent="-342900">
              <a:spcAft>
                <a:spcPts val="1200"/>
              </a:spcAft>
              <a:buSzPct val="100000"/>
              <a:buChar char="•"/>
            </a:pPr>
            <a:r>
              <a:rPr lang="en-US" sz="1800" dirty="0">
                <a:solidFill>
                  <a:schemeClr val="accent6"/>
                </a:solidFill>
              </a:rPr>
              <a:t>Dataset-to-dataset spread ≈ binomial noise</a:t>
            </a:r>
            <a:endParaRPr lang="en-US" sz="1800" dirty="0"/>
          </a:p>
        </p:txBody>
      </p:sp>
      <p:sp>
        <p:nvSpPr>
          <p:cNvPr id="13" name="takeaway card 3"/>
          <p:cNvSpPr/>
          <p:nvPr/>
        </p:nvSpPr>
        <p:spPr>
          <a:xfrm>
            <a:off x="8119872" y="1417320"/>
            <a:ext cx="3520440" cy="4206240"/>
          </a:xfrm>
          <a:prstGeom prst="roundRect">
            <a:avLst>
              <a:gd name="adj" fmla="val 3117"/>
            </a:avLst>
          </a:prstGeom>
          <a:solidFill>
            <a:srgbClr val="2A4A43"/>
          </a:solidFill>
          <a:ln/>
        </p:spPr>
      </p:sp>
      <p:sp>
        <p:nvSpPr>
          <p:cNvPr id="14" name="takeaway 3 circle"/>
          <p:cNvSpPr/>
          <p:nvPr/>
        </p:nvSpPr>
        <p:spPr>
          <a:xfrm>
            <a:off x="8439912" y="1737360"/>
            <a:ext cx="731520" cy="731520"/>
          </a:xfrm>
          <a:prstGeom prst="ellipse">
            <a:avLst/>
          </a:prstGeom>
          <a:solidFill>
            <a:schemeClr val="accent3"/>
          </a:solidFill>
          <a:ln/>
        </p:spPr>
      </p:sp>
      <p:pic>
        <p:nvPicPr>
          <p:cNvPr id="15" name="takeaway 3 icon" descr="preencoded.png"/>
          <p:cNvPicPr>
            <a:picLocks noChangeAspect="1"/>
          </p:cNvPicPr>
          <p:nvPr/>
        </p:nvPicPr>
        <p:blipFill>
          <a:blip r:embed="rId5"/>
          <a:stretch>
            <a:fillRect/>
          </a:stretch>
        </p:blipFill>
        <p:spPr>
          <a:xfrm>
            <a:off x="8622792" y="1920240"/>
            <a:ext cx="365760" cy="365760"/>
          </a:xfrm>
          <a:prstGeom prst="rect">
            <a:avLst/>
          </a:prstGeom>
        </p:spPr>
      </p:pic>
      <p:sp>
        <p:nvSpPr>
          <p:cNvPr id="16" name="Text 11"/>
          <p:cNvSpPr txBox="1"/>
          <p:nvPr/>
        </p:nvSpPr>
        <p:spPr>
          <a:xfrm>
            <a:off x="8439912" y="2651760"/>
            <a:ext cx="2926080" cy="457200"/>
          </a:xfrm>
          <a:prstGeom prst="rect">
            <a:avLst/>
          </a:prstGeom>
          <a:noFill/>
          <a:ln/>
        </p:spPr>
        <p:txBody>
          <a:bodyPr wrap="square" lIns="0" tIns="0" rIns="0" bIns="0" rtlCol="0" anchor="t"/>
          <a:lstStyle/>
          <a:p>
            <a:pPr marL="0" indent="0">
              <a:buNone/>
            </a:pPr>
            <a:r>
              <a:rPr lang="en-US" sz="2200" b="1" dirty="0">
                <a:solidFill>
                  <a:schemeClr val="bg1"/>
                </a:solidFill>
                <a:latin typeface="Cambria" pitchFamily="34" charset="0"/>
                <a:ea typeface="Cambria" pitchFamily="34" charset="-122"/>
                <a:cs typeface="Cambria" pitchFamily="34" charset="-120"/>
              </a:rPr>
              <a:t>Confounded</a:t>
            </a:r>
            <a:endParaRPr lang="en-US" sz="2200" dirty="0"/>
          </a:p>
        </p:txBody>
      </p:sp>
      <p:sp>
        <p:nvSpPr>
          <p:cNvPr id="17" name="Text 12"/>
          <p:cNvSpPr txBox="1"/>
          <p:nvPr/>
        </p:nvSpPr>
        <p:spPr>
          <a:xfrm>
            <a:off x="8439912" y="3246120"/>
            <a:ext cx="2926080" cy="21945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accent6"/>
                </a:solidFill>
              </a:rPr>
              <a:t>Changed numbers are also bigger numbers</a:t>
            </a:r>
            <a:endParaRPr lang="en-US" sz="1800" dirty="0"/>
          </a:p>
          <a:p>
            <a:pPr marL="342900" indent="-342900">
              <a:spcAft>
                <a:spcPts val="1200"/>
              </a:spcAft>
              <a:buSzPct val="100000"/>
              <a:buChar char="•"/>
            </a:pPr>
            <a:r>
              <a:rPr lang="en-US" sz="1800" dirty="0">
                <a:solidFill>
                  <a:schemeClr val="accent6"/>
                </a:solidFill>
              </a:rPr>
              <a:t>Harder arithmetic, not only memorization</a:t>
            </a:r>
            <a:endParaRPr lang="en-US" sz="1800" dirty="0"/>
          </a:p>
        </p:txBody>
      </p:sp>
      <p:sp>
        <p:nvSpPr>
          <p:cNvPr id="25" name="Slide Number Placeholder 0"/>
          <p:cNvSpPr>
            <a:spLocks noGrp="1"/>
          </p:cNvSpPr>
          <p:nvPr>
            <p:ph type="sldNum" sz="quarter" idx="4294967295"/>
          </p:nvPr>
        </p:nvSpPr>
        <p:spPr>
          <a:xfrm>
            <a:off x="11094415" y="6382512"/>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4"/>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1064240" cy="1737360"/>
          </a:xfrm>
          <a:prstGeom prst="rect">
            <a:avLst/>
          </a:prstGeom>
          <a:noFill/>
          <a:ln/>
        </p:spPr>
        <p:txBody>
          <a:bodyPr wrap="square" lIns="0" tIns="0" rIns="0" bIns="0" rtlCol="0" anchor="b"/>
          <a:lstStyle/>
          <a:p>
            <a:pPr marL="0" indent="0" algn="l">
              <a:buNone/>
            </a:pPr>
            <a:r>
              <a:rPr lang="en-US" sz="4400" b="1" dirty="0">
                <a:solidFill>
                  <a:schemeClr val="bg1"/>
                </a:solidFill>
                <a:latin typeface="Cambria" pitchFamily="34" charset="0"/>
                <a:ea typeface="Cambria" pitchFamily="34" charset="-122"/>
                <a:cs typeface="Cambria" pitchFamily="34" charset="-120"/>
              </a:rPr>
              <a:t>Fresh data, honest error bars</a:t>
            </a:r>
            <a:endParaRPr lang="en-US" sz="4400" dirty="0"/>
          </a:p>
        </p:txBody>
      </p:sp>
      <p:sp>
        <p:nvSpPr>
          <p:cNvPr id="3" name="Text 0"/>
          <p:cNvSpPr>
            <a:spLocks noGrp="1"/>
          </p:cNvSpPr>
          <p:nvPr>
            <p:ph type="body" idx="101" hasCustomPrompt="1"/>
          </p:nvPr>
        </p:nvSpPr>
        <p:spPr>
          <a:xfrm>
            <a:off x="548640" y="3749040"/>
            <a:ext cx="9601200" cy="1188720"/>
          </a:xfrm>
          <a:prstGeom prst="rect">
            <a:avLst/>
          </a:prstGeom>
          <a:noFill/>
          <a:ln/>
        </p:spPr>
        <p:txBody>
          <a:bodyPr wrap="square" lIns="0" tIns="0" rIns="0" bIns="0" rtlCol="0" anchor="t"/>
          <a:lstStyle/>
          <a:p>
            <a:pPr marL="0" indent="0">
              <a:buNone/>
            </a:pPr>
            <a:r>
              <a:rPr lang="en-US" sz="2000" b="1" dirty="0">
                <a:solidFill>
                  <a:schemeClr val="bg1"/>
                </a:solidFill>
              </a:rPr>
              <a:t>Generate new test data  ·  report uncertainty  ·  check for confounds</a:t>
            </a:r>
            <a:endParaRPr lang="en-US" sz="2000" dirty="0"/>
          </a:p>
          <a:p>
            <a:pPr marL="0" indent="0">
              <a:buNone/>
            </a:pPr>
            <a:r>
              <a:rPr lang="en-US" sz="1600" dirty="0">
                <a:solidFill>
                  <a:schemeClr val="accent6"/>
                </a:solidFill>
              </a:rPr>
              <a:t>Limits: small models, own name pools &amp; NoOp sentences, 60 × 25 instead of 100 × 50.</a:t>
            </a:r>
            <a:endParaRPr lang="en-US" sz="2000" dirty="0"/>
          </a:p>
        </p:txBody>
      </p:sp>
      <p:sp>
        <p:nvSpPr>
          <p:cNvPr id="4" name="Text 2"/>
          <p:cNvSpPr txBox="1"/>
          <p:nvPr/>
        </p:nvSpPr>
        <p:spPr>
          <a:xfrm>
            <a:off x="548640" y="5760720"/>
            <a:ext cx="11094415" cy="365760"/>
          </a:xfrm>
          <a:prstGeom prst="rect">
            <a:avLst/>
          </a:prstGeom>
          <a:noFill/>
          <a:ln/>
        </p:spPr>
        <p:txBody>
          <a:bodyPr wrap="square" lIns="0" tIns="0" rIns="0" bIns="0" rtlCol="0" anchor="t"/>
          <a:lstStyle/>
          <a:p>
            <a:pPr marL="0" indent="0">
              <a:buNone/>
            </a:pPr>
            <a:r>
              <a:rPr lang="en-US" sz="1400" dirty="0">
                <a:solidFill>
                  <a:schemeClr val="accent4"/>
                </a:solidFill>
              </a:rPr>
              <a:t>arxiv.org/abs/2410.05229   ·   github.com/apple/ml-gsm-symbolic   ·   Thanks for watching</a:t>
            </a:r>
            <a:endParaRPr lang="en-US" sz="1400" dirty="0"/>
          </a:p>
        </p:txBody>
      </p:sp>
    </p:spTree>
  </p:cSld>
  <p:clrMapOvr>
    <a:masterClrMapping/>
  </p:clrMapOvr>
</p:sld>
</file>

<file path=ppt/theme/theme1.xml><?xml version="1.0" encoding="utf-8"?>
<a:theme xmlns:a="http://schemas.openxmlformats.org/drawingml/2006/main" name="Chalkboard Eval">
  <a:themeElements>
    <a:clrScheme name="Chalkboard Eval">
      <a:dk1>
        <a:srgbClr val="1B2B27"/>
      </a:dk1>
      <a:lt1>
        <a:srgbClr val="FFFFFF"/>
      </a:lt1>
      <a:dk2>
        <a:srgbClr val="1F3A34"/>
      </a:dk2>
      <a:lt2>
        <a:srgbClr val="EEF3F0"/>
      </a:lt2>
      <a:accent1>
        <a:srgbClr val="1F6F5C"/>
      </a:accent1>
      <a:accent2>
        <a:srgbClr val="E39B2D"/>
      </a:accent2>
      <a:accent3>
        <a:srgbClr val="D2553F"/>
      </a:accent3>
      <a:accent4>
        <a:srgbClr val="7FA99B"/>
      </a:accent4>
      <a:accent5>
        <a:srgbClr val="5C6B67"/>
      </a:accent5>
      <a:accent6>
        <a:srgbClr val="C9D8D2"/>
      </a:accent6>
      <a:hlink>
        <a:srgbClr val="1F6F5C"/>
      </a:hlink>
      <a:folHlink>
        <a:srgbClr val="5C6B67"/>
      </a:folHlink>
    </a:clrScheme>
    <a:fontScheme name="Chalkboard Ev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2022</Words>
  <Application>Microsoft Office PowerPoint</Application>
  <PresentationFormat>Widescreen</PresentationFormat>
  <Paragraphs>212</Paragraphs>
  <Slides>16</Slides>
  <Notes>16</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Chalkboard Eval</vt:lpstr>
      <vt:lpstr>Can LLMs actually do grade-school math?</vt:lpstr>
      <vt:lpstr>One extra sentence, one wrong answer</vt:lpstr>
      <vt:lpstr>Why one GSM8K score can mislead</vt:lpstr>
      <vt:lpstr>From a fixed question to a template</vt:lpstr>
      <vt:lpstr>What the paper contributes</vt:lpstr>
      <vt:lpstr>Harder variants add one clause at a time</vt:lpstr>
      <vt:lpstr>Apple shipped templates, not the generator</vt:lpstr>
      <vt:lpstr>The end-to-end pipeline</vt:lpstr>
      <vt:lpstr>The generator checks out</vt:lpstr>
      <vt:lpstr>Numbers hurt more than names</vt:lpstr>
      <vt:lpstr>Each extra clause cuts accuracy</vt:lpstr>
      <vt:lpstr>An irrelevant sentence costs 53 points</vt:lpstr>
      <vt:lpstr>The spread is mostly sampling noise</vt:lpstr>
      <vt:lpstr>Bigger numbers, harder arithmetic</vt:lpstr>
      <vt:lpstr>What holds up, and what doesn't</vt:lpstr>
      <vt:lpstr>Fresh data, honest error bars</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GSM-Symbolic: a reproduction</dc:title>
  <dc:subject>PptxGenJS Presentation</dc:subject>
  <dc:creator>PptxGenJS</dc:creator>
  <cp:lastModifiedBy>Microsoft account</cp:lastModifiedBy>
  <cp:revision>3</cp:revision>
  <dcterms:created xsi:type="dcterms:W3CDTF">2026-10-27T16:31:00Z</dcterms:created>
  <dcterms:modified xsi:type="dcterms:W3CDTF">2026-10-28T09:33:59Z</dcterms:modified>
</cp:coreProperties>
</file>